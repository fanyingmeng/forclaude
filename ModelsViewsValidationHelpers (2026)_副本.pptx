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30"/>
  </p:notesMasterIdLst>
  <p:sldIdLst>
    <p:sldId id="306" r:id="rId5"/>
    <p:sldId id="307" r:id="rId6"/>
    <p:sldId id="308" r:id="rId7"/>
    <p:sldId id="309" r:id="rId8"/>
    <p:sldId id="314" r:id="rId9"/>
    <p:sldId id="315" r:id="rId10"/>
    <p:sldId id="316" r:id="rId11"/>
    <p:sldId id="317" r:id="rId12"/>
    <p:sldId id="325" r:id="rId13"/>
    <p:sldId id="318" r:id="rId14"/>
    <p:sldId id="320" r:id="rId15"/>
    <p:sldId id="319" r:id="rId16"/>
    <p:sldId id="321" r:id="rId17"/>
    <p:sldId id="323" r:id="rId18"/>
    <p:sldId id="322" r:id="rId19"/>
    <p:sldId id="326" r:id="rId20"/>
    <p:sldId id="324" r:id="rId21"/>
    <p:sldId id="327" r:id="rId22"/>
    <p:sldId id="329" r:id="rId23"/>
    <p:sldId id="328" r:id="rId24"/>
    <p:sldId id="330" r:id="rId25"/>
    <p:sldId id="331" r:id="rId26"/>
    <p:sldId id="334" r:id="rId27"/>
    <p:sldId id="333" r:id="rId28"/>
    <p:sldId id="33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F5C9552E-2239-41DA-433B-7139407C24AF}" name="Murray, Judson (NBCC)" initials="MJ(" userId="S::Judson.Murray@nbcc.ca::633a1c6a-fe48-4eb8-96e8-36ac4a0087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84967" autoAdjust="0"/>
  </p:normalViewPr>
  <p:slideViewPr>
    <p:cSldViewPr snapToGrid="0">
      <p:cViewPr varScale="1">
        <p:scale>
          <a:sx n="133" d="100"/>
          <a:sy n="133" d="100"/>
        </p:scale>
        <p:origin x="156" y="702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7" y="594360"/>
            <a:ext cx="6691871" cy="2843784"/>
          </a:xfrm>
        </p:spPr>
        <p:txBody>
          <a:bodyPr>
            <a:normAutofit fontScale="90000"/>
          </a:bodyPr>
          <a:lstStyle/>
          <a:p>
            <a:r>
              <a:rPr lang="en-US" sz="5400" spc="400" dirty="0">
                <a:solidFill>
                  <a:schemeClr val="bg1"/>
                </a:solidFill>
              </a:rPr>
              <a:t>Working with models and strongly-typed views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SERVER-SIDE WEB DEVELOPMENT</a:t>
            </a:r>
          </a:p>
          <a:p>
            <a:r>
              <a:rPr lang="en-US" dirty="0"/>
              <a:t>ASP.NET Core MVC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Agenda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r"/>
            <a:r>
              <a:rPr lang="en-US" sz="1800" dirty="0">
                <a:solidFill>
                  <a:schemeClr val="bg1"/>
                </a:solidFill>
              </a:rPr>
              <a:t>Defining Models</a:t>
            </a:r>
          </a:p>
          <a:p>
            <a:pPr algn="r"/>
            <a:r>
              <a:rPr lang="en-US" sz="1800" dirty="0">
                <a:solidFill>
                  <a:schemeClr val="bg1"/>
                </a:solidFill>
              </a:rPr>
              <a:t>The Entity Framework</a:t>
            </a:r>
          </a:p>
          <a:p>
            <a:pPr algn="r"/>
            <a:r>
              <a:rPr lang="en-US" dirty="0"/>
              <a:t>Validating Model Data</a:t>
            </a:r>
            <a:endParaRPr lang="en-US" sz="1800" dirty="0">
              <a:solidFill>
                <a:schemeClr val="bg1"/>
              </a:solidFill>
            </a:endParaRPr>
          </a:p>
          <a:p>
            <a:pPr algn="r"/>
            <a:r>
              <a:rPr lang="en-US" dirty="0"/>
              <a:t>Demo – BMI Calculator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4642631A-6ABE-41EA-A308-9CF1230F14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/>
          <a:stretch/>
        </p:blipFill>
        <p:spPr/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696" y="1076607"/>
            <a:ext cx="6190488" cy="732315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The Model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1905232"/>
            <a:ext cx="6190488" cy="4266968"/>
          </a:xfrm>
        </p:spPr>
        <p:txBody>
          <a:bodyPr>
            <a:normAutofit fontScale="77500" lnSpcReduction="20000"/>
          </a:bodyPr>
          <a:lstStyle/>
          <a:p>
            <a:r>
              <a:rPr lang="en-CA" sz="2800" dirty="0"/>
              <a:t>In </a:t>
            </a:r>
            <a:r>
              <a:rPr lang="en-CA" sz="2800" b="1" dirty="0">
                <a:solidFill>
                  <a:srgbClr val="FF0000"/>
                </a:solidFill>
              </a:rPr>
              <a:t>MVC</a:t>
            </a:r>
            <a:r>
              <a:rPr lang="en-CA" sz="2800" dirty="0"/>
              <a:t> the </a:t>
            </a:r>
            <a:r>
              <a:rPr lang="en-CA" sz="2800" b="1" dirty="0">
                <a:solidFill>
                  <a:srgbClr val="FF0000"/>
                </a:solidFill>
              </a:rPr>
              <a:t>M</a:t>
            </a:r>
            <a:r>
              <a:rPr lang="en-CA" sz="2800" dirty="0"/>
              <a:t> stands for </a:t>
            </a:r>
            <a:r>
              <a:rPr lang="en-CA" sz="2800" dirty="0">
                <a:solidFill>
                  <a:srgbClr val="FF0000"/>
                </a:solidFill>
              </a:rPr>
              <a:t>M</a:t>
            </a:r>
            <a:r>
              <a:rPr lang="en-CA" sz="2800" dirty="0"/>
              <a:t>odel, being one of the most important components of the application:</a:t>
            </a:r>
          </a:p>
          <a:p>
            <a:pPr lvl="1"/>
            <a:r>
              <a:rPr lang="en-CA" sz="2400" dirty="0"/>
              <a:t>The model is the representation of the real-world objects, process, and rules that define the subject of interest (the </a:t>
            </a:r>
            <a:r>
              <a:rPr lang="en-CA" sz="2400" b="1" dirty="0"/>
              <a:t>domain</a:t>
            </a:r>
            <a:r>
              <a:rPr lang="en-CA" sz="2400" dirty="0"/>
              <a:t>) of our application</a:t>
            </a:r>
          </a:p>
          <a:p>
            <a:pPr lvl="1"/>
            <a:r>
              <a:rPr lang="en-CA" sz="2400" dirty="0"/>
              <a:t>The model (A.K.A: </a:t>
            </a:r>
            <a:r>
              <a:rPr lang="en-CA" sz="2400" i="1" dirty="0"/>
              <a:t>The DOMAIN MODEL</a:t>
            </a:r>
            <a:r>
              <a:rPr lang="en-CA" sz="2400" dirty="0"/>
              <a:t>) contains the C# objects that make up the application and the methods that let us manipulate them</a:t>
            </a:r>
          </a:p>
          <a:p>
            <a:pPr lvl="1"/>
            <a:r>
              <a:rPr lang="en-CA" sz="2400" dirty="0"/>
              <a:t>The views and controllers then expose the domain to our clients in a consistent manner</a:t>
            </a:r>
          </a:p>
          <a:p>
            <a:pPr lvl="1"/>
            <a:r>
              <a:rPr lang="en-CA" sz="2400" dirty="0"/>
              <a:t>When you are working with data from a database, you may start with models as the focal point and then add the controllers and views</a:t>
            </a:r>
          </a:p>
          <a:p>
            <a:pPr lvl="1"/>
            <a:r>
              <a:rPr lang="en-CA" sz="2400" dirty="0"/>
              <a:t>Basic Models are simply POCOs (Plain Old C# Objects) – nothing more.</a:t>
            </a:r>
            <a:endParaRPr lang="en-US" sz="2400" dirty="0"/>
          </a:p>
          <a:p>
            <a:endParaRPr lang="en-US" dirty="0"/>
          </a:p>
        </p:txBody>
      </p:sp>
      <p:pic>
        <p:nvPicPr>
          <p:cNvPr id="8" name="Picture Placeholder 7" descr="mountains under the night sky just before dawn">
            <a:extLst>
              <a:ext uri="{FF2B5EF4-FFF2-40B4-BE49-F238E27FC236}">
                <a16:creationId xmlns:a16="http://schemas.microsoft.com/office/drawing/2014/main" id="{B53D1AAB-32B2-4F04-828F-AB1C758AF0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71" r="71"/>
          <a:stretch/>
        </p:blipFill>
        <p:spPr/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FB0B-15EC-453B-BC9B-69AD35DDC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spc="400" dirty="0">
                <a:solidFill>
                  <a:schemeClr val="bg1"/>
                </a:solidFill>
                <a:latin typeface="+mn-lt"/>
              </a:rPr>
              <a:t>DEFINING MODELS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08798-0DB3-46BF-880E-7BB904D70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What you need to know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8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93E9E47-B465-235B-8D70-C194C60F8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7313612" cy="539750"/>
          </a:xfrm>
        </p:spPr>
        <p:txBody>
          <a:bodyPr anchor="b">
            <a:normAutofit/>
          </a:bodyPr>
          <a:lstStyle/>
          <a:p>
            <a:r>
              <a:rPr lang="en-US" dirty="0"/>
              <a:t>Adding a Model Class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4EAE8-E304-6D51-B1CB-9568DFFA6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463" b="-2"/>
          <a:stretch/>
        </p:blipFill>
        <p:spPr>
          <a:xfrm>
            <a:off x="4733695" y="987425"/>
            <a:ext cx="6621693" cy="5228549"/>
          </a:xfrm>
          <a:prstGeom prst="rect">
            <a:avLst/>
          </a:prstGeom>
          <a:noFill/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890B90B-1372-49EF-205B-A156DE9BE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r>
              <a:rPr lang="en-US" dirty="0"/>
              <a:t>Model classes are contained directly within the Project </a:t>
            </a:r>
            <a:r>
              <a:rPr lang="en-US" b="1" dirty="0"/>
              <a:t>\Models\ </a:t>
            </a:r>
            <a:r>
              <a:rPr lang="en-US" dirty="0"/>
              <a:t>Folder (or a sub-folder)</a:t>
            </a:r>
          </a:p>
          <a:p>
            <a:endParaRPr lang="en-US" dirty="0"/>
          </a:p>
          <a:p>
            <a:r>
              <a:rPr lang="en-US" dirty="0"/>
              <a:t>Adding a new Model can be performed by right-clicking </a:t>
            </a:r>
            <a:r>
              <a:rPr lang="en-US" b="1" dirty="0"/>
              <a:t>Models</a:t>
            </a:r>
            <a:r>
              <a:rPr lang="en-US" dirty="0"/>
              <a:t> and selecting:</a:t>
            </a:r>
          </a:p>
          <a:p>
            <a:r>
              <a:rPr lang="en-US" b="1" dirty="0"/>
              <a:t>ADD</a:t>
            </a:r>
            <a:r>
              <a:rPr lang="en-US" dirty="0"/>
              <a:t> ▶ </a:t>
            </a:r>
            <a:r>
              <a:rPr lang="en-US" b="1" dirty="0"/>
              <a:t>CLASS</a:t>
            </a:r>
          </a:p>
        </p:txBody>
      </p:sp>
      <p:sp>
        <p:nvSpPr>
          <p:cNvPr id="23" name="Footer Placeholder 5">
            <a:extLst>
              <a:ext uri="{FF2B5EF4-FFF2-40B4-BE49-F238E27FC236}">
                <a16:creationId xmlns:a16="http://schemas.microsoft.com/office/drawing/2014/main" id="{422F25C1-FB89-C4A0-D039-928B9727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83012A8-F39E-6024-A3AB-7CF4353D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B9F07-8885-9DD9-AA85-3AC9C8CBB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974" y="1401763"/>
            <a:ext cx="6915150" cy="44672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F4AB89C-318E-D76B-A436-6476844A3748}"/>
              </a:ext>
            </a:extLst>
          </p:cNvPr>
          <p:cNvSpPr/>
          <p:nvPr/>
        </p:nvSpPr>
        <p:spPr>
          <a:xfrm flipH="1">
            <a:off x="8296273" y="2132184"/>
            <a:ext cx="3337393" cy="218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BF350F-5014-F2C1-5ADA-E4A3F44C72F3}"/>
              </a:ext>
            </a:extLst>
          </p:cNvPr>
          <p:cNvSpPr/>
          <p:nvPr/>
        </p:nvSpPr>
        <p:spPr>
          <a:xfrm flipH="1">
            <a:off x="5124450" y="5207794"/>
            <a:ext cx="3164681" cy="235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118461-1AA7-9D54-BA52-5E2699563ADD}"/>
              </a:ext>
            </a:extLst>
          </p:cNvPr>
          <p:cNvSpPr/>
          <p:nvPr/>
        </p:nvSpPr>
        <p:spPr>
          <a:xfrm flipH="1">
            <a:off x="7105647" y="1447918"/>
            <a:ext cx="4762502" cy="218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0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2354-0736-EB18-F975-325AA712E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0" y="196597"/>
            <a:ext cx="4434840" cy="886968"/>
          </a:xfrm>
        </p:spPr>
        <p:txBody>
          <a:bodyPr anchor="b">
            <a:normAutofit/>
          </a:bodyPr>
          <a:lstStyle/>
          <a:p>
            <a:r>
              <a:rPr lang="en-US" sz="2600" b="1" dirty="0"/>
              <a:t>Implementing Model Classes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54EFD3-A73F-ACBF-F0C5-988F3A111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0" y="1463039"/>
            <a:ext cx="4174234" cy="47548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Choose a name for your class that adheres to C# Naming Conventions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- Click </a:t>
            </a:r>
            <a:r>
              <a:rPr lang="en-US" sz="1700" b="1" dirty="0"/>
              <a:t>ADD</a:t>
            </a:r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r>
              <a:rPr lang="en-US" sz="1700" dirty="0"/>
              <a:t>Once your Class has been added to your Project, begin adding new model properties as you would a normal class.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Many Model classes are eventually mapped to the Data Model of a Database, within specific Tables/Fields.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* This model will not be synchronized to a DB, but this we will add that functionality within project(s) in the near future.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57446-03D7-6B87-1D02-E649B39E8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Working with models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C0E2-3785-D384-471A-C3C530DA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2E9BB6AA-9112-2154-C1A4-C6887815E58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9/3/20XX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FCF02A-8B2D-06C9-5F62-398A4BEA1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43" y="1383765"/>
            <a:ext cx="5891778" cy="40904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54D1281-D541-A8E3-7320-3A1233C730FF}"/>
              </a:ext>
            </a:extLst>
          </p:cNvPr>
          <p:cNvSpPr/>
          <p:nvPr/>
        </p:nvSpPr>
        <p:spPr>
          <a:xfrm flipH="1">
            <a:off x="1785937" y="1797843"/>
            <a:ext cx="2790825" cy="247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E91632-B317-7AB3-948E-ED16D5927A65}"/>
              </a:ext>
            </a:extLst>
          </p:cNvPr>
          <p:cNvSpPr/>
          <p:nvPr/>
        </p:nvSpPr>
        <p:spPr>
          <a:xfrm flipH="1">
            <a:off x="1063625" y="5108575"/>
            <a:ext cx="3207382" cy="120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A71255-3280-64A7-C786-B374654D81C9}"/>
              </a:ext>
            </a:extLst>
          </p:cNvPr>
          <p:cNvSpPr/>
          <p:nvPr/>
        </p:nvSpPr>
        <p:spPr>
          <a:xfrm flipH="1">
            <a:off x="5072063" y="5269575"/>
            <a:ext cx="492918" cy="16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5A9B91-DC58-C7BB-F678-0447AE4C8D1C}"/>
              </a:ext>
            </a:extLst>
          </p:cNvPr>
          <p:cNvSpPr txBox="1"/>
          <p:nvPr/>
        </p:nvSpPr>
        <p:spPr>
          <a:xfrm>
            <a:off x="3048712" y="3161012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Working with models</a:t>
            </a:r>
          </a:p>
        </p:txBody>
      </p:sp>
    </p:spTree>
    <p:extLst>
      <p:ext uri="{BB962C8B-B14F-4D97-AF65-F5344CB8AC3E}">
        <p14:creationId xmlns:p14="http://schemas.microsoft.com/office/powerpoint/2010/main" val="353409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C0E4D65-2EC2-D707-CF43-47F1CB5E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65125"/>
            <a:ext cx="10771632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EXAMPLE #1 </a:t>
            </a:r>
            <a:r>
              <a:rPr lang="en-US" sz="3200" dirty="0"/>
              <a:t>(BMIResponse)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85FE8B1-EF9D-C610-F0EB-A3C1298F0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072" y="2439408"/>
            <a:ext cx="10771632" cy="3123772"/>
          </a:xfr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C0E2-3785-D384-471A-C3C530DA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84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55070E6-6DCA-9B49-293B-A2E968480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#2 (PollResponseModel)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6EE6D51F-AAEA-64C1-705D-81DE89C74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877" y="1825625"/>
            <a:ext cx="7840246" cy="4351338"/>
          </a:xfrm>
          <a:prstGeom prst="rect">
            <a:avLst/>
          </a:prstGeo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C0E2-3785-D384-471A-C3C530DA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2E9BB6AA-9112-2154-C1A4-C6887815E58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57446-03D7-6B87-1D02-E649B39E8FE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Working with models</a:t>
            </a:r>
          </a:p>
        </p:txBody>
      </p:sp>
    </p:spTree>
    <p:extLst>
      <p:ext uri="{BB962C8B-B14F-4D97-AF65-F5344CB8AC3E}">
        <p14:creationId xmlns:p14="http://schemas.microsoft.com/office/powerpoint/2010/main" val="232435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24F4-0D0F-F415-321F-560291C618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entity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48E30-A4DF-B1AC-C9F2-4DDA9AE6FB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Our path forward for data-centric development</a:t>
            </a:r>
          </a:p>
        </p:txBody>
      </p:sp>
    </p:spTree>
    <p:extLst>
      <p:ext uri="{BB962C8B-B14F-4D97-AF65-F5344CB8AC3E}">
        <p14:creationId xmlns:p14="http://schemas.microsoft.com/office/powerpoint/2010/main" val="18452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BE6E-A69C-8FFF-7821-DC1D171E3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the Entity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68085-786F-3D61-5CDC-FD080F49F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/>
              <a:t>The </a:t>
            </a:r>
            <a:r>
              <a:rPr lang="en-CA" sz="2400" b="1" u="sng" dirty="0"/>
              <a:t>Entity Framework Core</a:t>
            </a:r>
            <a:r>
              <a:rPr lang="en-CA" sz="2400" b="1" dirty="0"/>
              <a:t> (EF Core)</a:t>
            </a:r>
            <a:r>
              <a:rPr lang="en-CA" sz="2400" b="1" i="1" dirty="0"/>
              <a:t> </a:t>
            </a:r>
            <a:r>
              <a:rPr lang="en-CA" sz="2400" dirty="0"/>
              <a:t>is one of components available within .NET and allows us to access a database using </a:t>
            </a:r>
            <a:r>
              <a:rPr lang="en-CA" sz="2400" b="1" dirty="0"/>
              <a:t>strongly typed code </a:t>
            </a:r>
            <a:r>
              <a:rPr lang="en-CA" sz="2400" dirty="0"/>
              <a:t>(</a:t>
            </a:r>
            <a:r>
              <a:rPr lang="en-CA" sz="1800" dirty="0"/>
              <a:t>with C#, F# and Visual Basic</a:t>
            </a:r>
            <a:r>
              <a:rPr lang="en-CA" sz="2400" dirty="0"/>
              <a:t>)</a:t>
            </a:r>
          </a:p>
          <a:p>
            <a:r>
              <a:rPr lang="en-CA" sz="2400" dirty="0"/>
              <a:t>When leveraging classes that are integrated to use </a:t>
            </a:r>
            <a:r>
              <a:rPr lang="en-CA" sz="2400" b="1" dirty="0"/>
              <a:t>EF Core</a:t>
            </a:r>
            <a:r>
              <a:rPr lang="en-CA" sz="2400" i="1" u="sng" dirty="0"/>
              <a:t>,</a:t>
            </a:r>
            <a:r>
              <a:rPr lang="en-CA" sz="2400" dirty="0"/>
              <a:t> you don’t have to worry about the Low-Level abstractions of Data Management:</a:t>
            </a:r>
          </a:p>
          <a:p>
            <a:pPr lvl="1"/>
            <a:r>
              <a:rPr lang="en-CA" sz="1800" dirty="0"/>
              <a:t>No managing </a:t>
            </a:r>
            <a:r>
              <a:rPr lang="en-CA" sz="1800" b="1" dirty="0"/>
              <a:t>SQLConnections</a:t>
            </a:r>
            <a:r>
              <a:rPr lang="en-CA" sz="1800" dirty="0"/>
              <a:t>, </a:t>
            </a:r>
            <a:r>
              <a:rPr lang="en-CA" sz="1800" b="1" dirty="0"/>
              <a:t>SQLCommands</a:t>
            </a:r>
            <a:r>
              <a:rPr lang="en-CA" sz="1800" dirty="0"/>
              <a:t>, </a:t>
            </a:r>
            <a:r>
              <a:rPr lang="en-CA" sz="1800" b="1" dirty="0"/>
              <a:t>SQLParameters</a:t>
            </a:r>
            <a:r>
              <a:rPr lang="en-CA" sz="1800" dirty="0"/>
              <a:t>, </a:t>
            </a:r>
            <a:r>
              <a:rPr lang="en-CA" sz="1800" b="1" dirty="0"/>
              <a:t>DataSets</a:t>
            </a:r>
            <a:r>
              <a:rPr lang="en-CA" sz="1800" dirty="0"/>
              <a:t>, etc.</a:t>
            </a:r>
          </a:p>
          <a:p>
            <a:pPr lvl="1"/>
            <a:r>
              <a:rPr lang="en-CA" sz="1800" dirty="0"/>
              <a:t>We will work directly with </a:t>
            </a:r>
            <a:r>
              <a:rPr lang="en-CA" sz="1800" b="1" dirty="0"/>
              <a:t>C#</a:t>
            </a:r>
            <a:r>
              <a:rPr lang="en-CA" sz="1800" dirty="0"/>
              <a:t> code and utilize </a:t>
            </a:r>
            <a:r>
              <a:rPr lang="en-CA" sz="1800" b="1" dirty="0"/>
              <a:t>LINQ</a:t>
            </a:r>
            <a:endParaRPr lang="en-CA" sz="2000" b="1" dirty="0"/>
          </a:p>
          <a:p>
            <a:pPr lvl="1"/>
            <a:r>
              <a:rPr lang="en-CA" sz="1800" b="1" dirty="0"/>
              <a:t>LINQ</a:t>
            </a:r>
            <a:r>
              <a:rPr lang="en-CA" sz="1800" dirty="0"/>
              <a:t>  (</a:t>
            </a:r>
            <a:r>
              <a:rPr lang="en-CA" sz="1800" b="1" dirty="0"/>
              <a:t>L</a:t>
            </a:r>
            <a:r>
              <a:rPr lang="en-CA" sz="1800" dirty="0"/>
              <a:t>anguage </a:t>
            </a:r>
            <a:r>
              <a:rPr lang="en-CA" sz="1800" b="1" dirty="0"/>
              <a:t>IN</a:t>
            </a:r>
            <a:r>
              <a:rPr lang="en-CA" sz="1800" dirty="0"/>
              <a:t>tegrated </a:t>
            </a:r>
            <a:r>
              <a:rPr lang="en-CA" sz="1800" b="1" dirty="0"/>
              <a:t>Q</a:t>
            </a:r>
            <a:r>
              <a:rPr lang="en-CA" sz="1800" dirty="0"/>
              <a:t>uery : pronounced "link") is another Microsoft .NET component that adds native data querying capabilities to .NET languages and objects.</a:t>
            </a:r>
          </a:p>
          <a:p>
            <a:pPr lvl="1"/>
            <a:r>
              <a:rPr lang="en-CA" sz="2000" dirty="0"/>
              <a:t>We will be using </a:t>
            </a:r>
            <a:r>
              <a:rPr lang="en-CA" sz="2000" b="1" u="sng" dirty="0"/>
              <a:t>EF Core</a:t>
            </a:r>
            <a:r>
              <a:rPr lang="en-CA" sz="2000" dirty="0"/>
              <a:t> with the </a:t>
            </a:r>
            <a:r>
              <a:rPr lang="en-CA" sz="2000" b="1" dirty="0">
                <a:solidFill>
                  <a:srgbClr val="00B050"/>
                </a:solidFill>
              </a:rPr>
              <a:t>Code First Approach</a:t>
            </a:r>
            <a:r>
              <a:rPr lang="en-CA" sz="2000" dirty="0">
                <a:solidFill>
                  <a:srgbClr val="00B050"/>
                </a:solidFill>
              </a:rPr>
              <a:t> </a:t>
            </a:r>
            <a:r>
              <a:rPr lang="en-CA" sz="2000" dirty="0"/>
              <a:t>to creating MVC data-centric applications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C9EDC-9084-43EE-07B7-AFD6D51F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52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B19AE-410D-E1A0-E092-3D1F471A9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1108253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SUPPORT FOR EF Core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A4B5A-C233-1F20-E56B-B62E6B860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8978" y="2464168"/>
            <a:ext cx="4434835" cy="28350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There is a great amount of support for many popular database platforms, which include:</a:t>
            </a:r>
          </a:p>
          <a:p>
            <a:pPr marL="285750" indent="-285750">
              <a:buFontTx/>
              <a:buChar char="-"/>
            </a:pPr>
            <a:r>
              <a:rPr lang="en-US" dirty="0"/>
              <a:t>Microsoft SQL Server</a:t>
            </a:r>
          </a:p>
          <a:p>
            <a:pPr marL="285750" indent="-285750">
              <a:buFontTx/>
              <a:buChar char="-"/>
            </a:pPr>
            <a:r>
              <a:rPr lang="en-US" dirty="0"/>
              <a:t>Oracle</a:t>
            </a:r>
          </a:p>
          <a:p>
            <a:pPr marL="285750" indent="-285750">
              <a:buFontTx/>
              <a:buChar char="-"/>
            </a:pPr>
            <a:r>
              <a:rPr lang="en-US" dirty="0"/>
              <a:t>IBM DB2</a:t>
            </a:r>
          </a:p>
          <a:p>
            <a:pPr marL="285750" indent="-285750">
              <a:buFontTx/>
              <a:buChar char="-"/>
            </a:pPr>
            <a:r>
              <a:rPr lang="en-US" dirty="0"/>
              <a:t>PostgreSQL</a:t>
            </a:r>
          </a:p>
          <a:p>
            <a:pPr marL="285750" indent="-285750">
              <a:buFontTx/>
              <a:buChar char="-"/>
            </a:pPr>
            <a:r>
              <a:rPr lang="en-US" dirty="0"/>
              <a:t>and others depicted within this slide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8FB6F-5E14-21B2-28D8-DBF131B9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CD555-0797-034B-A245-2A70E2B4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 descr="A blue cloud with white text&#10;&#10;Description automatically generated">
            <a:extLst>
              <a:ext uri="{FF2B5EF4-FFF2-40B4-BE49-F238E27FC236}">
                <a16:creationId xmlns:a16="http://schemas.microsoft.com/office/drawing/2014/main" id="{4A44056C-B0B6-BFBA-36EF-4DDD1BB023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5185219"/>
            <a:ext cx="2171700" cy="1353693"/>
          </a:xfrm>
          <a:prstGeom prst="rect">
            <a:avLst/>
          </a:prstGeom>
        </p:spPr>
      </p:pic>
      <p:pic>
        <p:nvPicPr>
          <p:cNvPr id="12" name="Picture 11" descr="A logo of a software company&#10;&#10;Description automatically generated">
            <a:extLst>
              <a:ext uri="{FF2B5EF4-FFF2-40B4-BE49-F238E27FC236}">
                <a16:creationId xmlns:a16="http://schemas.microsoft.com/office/drawing/2014/main" id="{375424F7-EB11-E379-CCE4-072A272B06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573" y="5299197"/>
            <a:ext cx="1613497" cy="1613497"/>
          </a:xfrm>
          <a:prstGeom prst="rect">
            <a:avLst/>
          </a:prstGeom>
        </p:spPr>
      </p:pic>
      <p:pic>
        <p:nvPicPr>
          <p:cNvPr id="14" name="Picture 13" descr="A blue elephant with white outline&#10;&#10;Description automatically generated">
            <a:extLst>
              <a:ext uri="{FF2B5EF4-FFF2-40B4-BE49-F238E27FC236}">
                <a16:creationId xmlns:a16="http://schemas.microsoft.com/office/drawing/2014/main" id="{51201965-5BB7-0DCD-69ED-8D1F294A96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409" y="3429000"/>
            <a:ext cx="1759321" cy="1759321"/>
          </a:xfrm>
          <a:prstGeom prst="rect">
            <a:avLst/>
          </a:prstGeom>
        </p:spPr>
      </p:pic>
      <p:pic>
        <p:nvPicPr>
          <p:cNvPr id="16" name="Picture 15" descr="A logo of a dolphin&#10;&#10;Description automatically generated">
            <a:extLst>
              <a:ext uri="{FF2B5EF4-FFF2-40B4-BE49-F238E27FC236}">
                <a16:creationId xmlns:a16="http://schemas.microsoft.com/office/drawing/2014/main" id="{80B0917F-FDC7-E292-AAD9-2F91A2858B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55" y="-318"/>
            <a:ext cx="2184483" cy="2184483"/>
          </a:xfrm>
          <a:prstGeom prst="rect">
            <a:avLst/>
          </a:prstGeom>
        </p:spPr>
      </p:pic>
      <p:pic>
        <p:nvPicPr>
          <p:cNvPr id="20" name="Picture 19" descr="A logo of a seal&#10;&#10;Description automatically generated">
            <a:extLst>
              <a:ext uri="{FF2B5EF4-FFF2-40B4-BE49-F238E27FC236}">
                <a16:creationId xmlns:a16="http://schemas.microsoft.com/office/drawing/2014/main" id="{8E8748E2-C413-5408-4FA6-1FFE0BFA40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09963"/>
            <a:ext cx="1533287" cy="1533287"/>
          </a:xfrm>
          <a:prstGeom prst="rect">
            <a:avLst/>
          </a:prstGeom>
        </p:spPr>
      </p:pic>
      <p:pic>
        <p:nvPicPr>
          <p:cNvPr id="24" name="Picture 23" descr="A silver round object with red text&#10;&#10;Description automatically generated">
            <a:extLst>
              <a:ext uri="{FF2B5EF4-FFF2-40B4-BE49-F238E27FC236}">
                <a16:creationId xmlns:a16="http://schemas.microsoft.com/office/drawing/2014/main" id="{A8C7AD5B-2730-98BB-88EB-B460BFC039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8264" y="368183"/>
            <a:ext cx="1882311" cy="1882311"/>
          </a:xfrm>
          <a:prstGeom prst="rect">
            <a:avLst/>
          </a:prstGeom>
        </p:spPr>
      </p:pic>
      <p:pic>
        <p:nvPicPr>
          <p:cNvPr id="26" name="Picture 25" descr="A blue text with a feather&#10;&#10;Description automatically generated">
            <a:extLst>
              <a:ext uri="{FF2B5EF4-FFF2-40B4-BE49-F238E27FC236}">
                <a16:creationId xmlns:a16="http://schemas.microsoft.com/office/drawing/2014/main" id="{2C2A8273-EA4A-E03A-C31A-7F84CBA2FAB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8852" y="2368184"/>
            <a:ext cx="2337264" cy="1108253"/>
          </a:xfrm>
          <a:prstGeom prst="rect">
            <a:avLst/>
          </a:prstGeom>
        </p:spPr>
      </p:pic>
      <p:pic>
        <p:nvPicPr>
          <p:cNvPr id="30" name="Picture 29" descr="A logo of a bird&#10;&#10;Description automatically generated">
            <a:extLst>
              <a:ext uri="{FF2B5EF4-FFF2-40B4-BE49-F238E27FC236}">
                <a16:creationId xmlns:a16="http://schemas.microsoft.com/office/drawing/2014/main" id="{E74E5219-C9EF-2D60-722D-A17E8F5123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582" y="3297174"/>
            <a:ext cx="1562100" cy="1562100"/>
          </a:xfrm>
          <a:prstGeom prst="rect">
            <a:avLst/>
          </a:prstGeom>
        </p:spPr>
      </p:pic>
      <p:pic>
        <p:nvPicPr>
          <p:cNvPr id="34" name="Picture 33" descr="A green and black rectangular sign with white text&#10;&#10;Description automatically generated">
            <a:extLst>
              <a:ext uri="{FF2B5EF4-FFF2-40B4-BE49-F238E27FC236}">
                <a16:creationId xmlns:a16="http://schemas.microsoft.com/office/drawing/2014/main" id="{F5854E83-CD2B-B1CD-3792-EDFFF86109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0977" y="2165279"/>
            <a:ext cx="1108253" cy="1108253"/>
          </a:xfrm>
          <a:prstGeom prst="rect">
            <a:avLst/>
          </a:prstGeom>
        </p:spPr>
      </p:pic>
      <p:pic>
        <p:nvPicPr>
          <p:cNvPr id="36" name="Picture 35" descr="A logo of a computer&#10;&#10;Description automatically generated">
            <a:extLst>
              <a:ext uri="{FF2B5EF4-FFF2-40B4-BE49-F238E27FC236}">
                <a16:creationId xmlns:a16="http://schemas.microsoft.com/office/drawing/2014/main" id="{85040488-3395-4548-0328-3929D9C2E6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8011" y="1478149"/>
            <a:ext cx="1108253" cy="1108253"/>
          </a:xfrm>
          <a:prstGeom prst="rect">
            <a:avLst/>
          </a:prstGeom>
        </p:spPr>
      </p:pic>
      <p:pic>
        <p:nvPicPr>
          <p:cNvPr id="38" name="Picture 37" descr="A blue hexagon with a white tool on it&#10;&#10;Description automatically generated">
            <a:extLst>
              <a:ext uri="{FF2B5EF4-FFF2-40B4-BE49-F238E27FC236}">
                <a16:creationId xmlns:a16="http://schemas.microsoft.com/office/drawing/2014/main" id="{CF93BDAC-0640-811E-6EAE-FF8CAE3720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3686" y="3719111"/>
            <a:ext cx="2128649" cy="895226"/>
          </a:xfrm>
          <a:prstGeom prst="rect">
            <a:avLst/>
          </a:prstGeom>
        </p:spPr>
      </p:pic>
      <p:pic>
        <p:nvPicPr>
          <p:cNvPr id="44" name="Picture 43" descr="A close up of a logo&#10;&#10;Description automatically generated">
            <a:extLst>
              <a:ext uri="{FF2B5EF4-FFF2-40B4-BE49-F238E27FC236}">
                <a16:creationId xmlns:a16="http://schemas.microsoft.com/office/drawing/2014/main" id="{05DD80E0-30E2-B34C-28F5-02CEE07782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19943" y="57643"/>
            <a:ext cx="1961263" cy="503391"/>
          </a:xfrm>
          <a:prstGeom prst="rect">
            <a:avLst/>
          </a:prstGeom>
        </p:spPr>
      </p:pic>
      <p:pic>
        <p:nvPicPr>
          <p:cNvPr id="46" name="Picture 45" descr="A black background with grey text&#10;&#10;Description automatically generated">
            <a:extLst>
              <a:ext uri="{FF2B5EF4-FFF2-40B4-BE49-F238E27FC236}">
                <a16:creationId xmlns:a16="http://schemas.microsoft.com/office/drawing/2014/main" id="{591EA535-3AB5-FAEC-70FB-DB89C9AECA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33729" y="4919845"/>
            <a:ext cx="1759321" cy="9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E23117E2-F985-A63E-D26B-194993D16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5" y="336423"/>
            <a:ext cx="4434840" cy="730377"/>
          </a:xfrm>
        </p:spPr>
        <p:txBody>
          <a:bodyPr/>
          <a:lstStyle/>
          <a:p>
            <a:pPr algn="ctr"/>
            <a:r>
              <a:rPr lang="en-US" b="1" dirty="0"/>
              <a:t>EF Core vs EF 6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410252DA-2759-AD47-FC91-A211A74E1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1447801"/>
            <a:ext cx="4434835" cy="49085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Recall that there are 2 different version of ASP.NET contained within .NET: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ASP.NET </a:t>
            </a:r>
            <a:r>
              <a:rPr lang="en-US" dirty="0"/>
              <a:t>(from the .NET Framework)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00B050"/>
                </a:solidFill>
              </a:rPr>
              <a:t>ASP.NET Core</a:t>
            </a:r>
            <a:r>
              <a:rPr lang="en-US" dirty="0"/>
              <a:t> (from .NET Core)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There are separate version of the Entity Framework for each:</a:t>
            </a:r>
          </a:p>
          <a:p>
            <a:pPr marL="285750" indent="-285750">
              <a:buFontTx/>
              <a:buChar char="-"/>
            </a:pPr>
            <a:r>
              <a:rPr lang="en-US" b="1" u="sng" dirty="0">
                <a:solidFill>
                  <a:srgbClr val="FF0000"/>
                </a:solidFill>
              </a:rPr>
              <a:t>Entity Framework v6 </a:t>
            </a:r>
            <a:r>
              <a:rPr lang="en-US" dirty="0">
                <a:solidFill>
                  <a:srgbClr val="FF0000"/>
                </a:solidFill>
              </a:rPr>
              <a:t>is a legacy component only meant to be used with ASP.NET (.NET Framework) and legacy applications.</a:t>
            </a:r>
          </a:p>
          <a:p>
            <a:pPr marL="285750" indent="-285750">
              <a:buFontTx/>
              <a:buChar char="-"/>
            </a:pPr>
            <a:r>
              <a:rPr lang="en-US" b="1" u="sng" dirty="0">
                <a:solidFill>
                  <a:srgbClr val="00B050"/>
                </a:solidFill>
              </a:rPr>
              <a:t>Entity Framework Core </a:t>
            </a:r>
            <a:r>
              <a:rPr lang="en-US" dirty="0">
                <a:solidFill>
                  <a:srgbClr val="00B050"/>
                </a:solidFill>
              </a:rPr>
              <a:t>is a newer component that is only meant to be used with ASP.NET Core projects, etc.</a:t>
            </a:r>
          </a:p>
          <a:p>
            <a:pPr algn="ctr"/>
            <a:r>
              <a:rPr lang="en-US" b="1" u="sng" dirty="0">
                <a:solidFill>
                  <a:srgbClr val="00B050"/>
                </a:solidFill>
                <a:highlight>
                  <a:srgbClr val="FFFF00"/>
                </a:highlight>
              </a:rPr>
              <a:t>ONLY USE ENTITY FRAMEWORK CORE</a:t>
            </a:r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251C51CB-F139-C77F-EEAA-312D0D8C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Working with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5F5D9-346D-B18F-AB35-2E29F82AB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3" name="Date Placeholder 4" hidden="1">
            <a:extLst>
              <a:ext uri="{FF2B5EF4-FFF2-40B4-BE49-F238E27FC236}">
                <a16:creationId xmlns:a16="http://schemas.microsoft.com/office/drawing/2014/main" id="{B3FD76D3-7486-715A-92B6-04A9B71BF5C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9/3/20XX</a:t>
            </a:r>
          </a:p>
        </p:txBody>
      </p:sp>
      <p:pic>
        <p:nvPicPr>
          <p:cNvPr id="38" name="Picture 37" descr="A robot with a round top&#10;&#10;Description automatically generated with medium confidence">
            <a:extLst>
              <a:ext uri="{FF2B5EF4-FFF2-40B4-BE49-F238E27FC236}">
                <a16:creationId xmlns:a16="http://schemas.microsoft.com/office/drawing/2014/main" id="{35D8AB48-4EA9-F687-91CA-52040BA9C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76" y="1679035"/>
            <a:ext cx="5313918" cy="3499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5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CB5E7-33EB-F3D0-8987-68686457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7159752" cy="1179576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Approaches to using Entity Framework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DD470A44-59CC-61B1-114F-4AF373511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>
            <a:normAutofit/>
          </a:bodyPr>
          <a:lstStyle/>
          <a:p>
            <a:r>
              <a:rPr lang="en-CA" dirty="0"/>
              <a:t>The EF Core has two different approaches to utilizing it within .NET Applications: </a:t>
            </a:r>
            <a:br>
              <a:rPr lang="en-CA" dirty="0"/>
            </a:br>
            <a:endParaRPr lang="en-CA" dirty="0"/>
          </a:p>
          <a:p>
            <a:pPr marL="342900" indent="-342900">
              <a:buFontTx/>
              <a:buChar char="-"/>
            </a:pPr>
            <a:r>
              <a:rPr lang="en-CA" dirty="0"/>
              <a:t>The </a:t>
            </a:r>
            <a:r>
              <a:rPr lang="en-CA" b="1" dirty="0">
                <a:solidFill>
                  <a:schemeClr val="accent5"/>
                </a:solidFill>
              </a:rPr>
              <a:t>Database-First</a:t>
            </a:r>
            <a:r>
              <a:rPr lang="en-CA" dirty="0"/>
              <a:t> </a:t>
            </a:r>
            <a:r>
              <a:rPr lang="en-CA" dirty="0">
                <a:solidFill>
                  <a:schemeClr val="accent5"/>
                </a:solidFill>
              </a:rPr>
              <a:t>Approach</a:t>
            </a:r>
          </a:p>
          <a:p>
            <a:pPr marL="342900" indent="-342900">
              <a:buFontTx/>
              <a:buChar char="-"/>
            </a:pPr>
            <a:r>
              <a:rPr lang="en-CA" dirty="0"/>
              <a:t>The </a:t>
            </a:r>
            <a:r>
              <a:rPr lang="en-CA" b="1" dirty="0">
                <a:solidFill>
                  <a:srgbClr val="00B050"/>
                </a:solidFill>
              </a:rPr>
              <a:t>Code-First</a:t>
            </a:r>
            <a:r>
              <a:rPr lang="en-CA" dirty="0"/>
              <a:t> </a:t>
            </a:r>
            <a:r>
              <a:rPr lang="en-CA" dirty="0">
                <a:solidFill>
                  <a:srgbClr val="00B050"/>
                </a:solidFill>
              </a:rPr>
              <a:t>Approach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5C738-3F6A-A040-2F98-FA5F228CE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Working with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13FCB-69D6-89D6-D77F-14C9B7E5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14" name="Picture 13" descr="A diagram of a database&#10;&#10;Description automatically generated">
            <a:extLst>
              <a:ext uri="{FF2B5EF4-FFF2-40B4-BE49-F238E27FC236}">
                <a16:creationId xmlns:a16="http://schemas.microsoft.com/office/drawing/2014/main" id="{A66D8C41-EDC5-2385-DD8E-75CB51E4C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227005"/>
            <a:ext cx="5490289" cy="294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93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8A0A65-1779-CB9D-FD76-6FF920B97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5975" y="3073335"/>
            <a:ext cx="5143500" cy="2788603"/>
          </a:xfrm>
        </p:spPr>
        <p:txBody>
          <a:bodyPr>
            <a:normAutofit/>
          </a:bodyPr>
          <a:lstStyle/>
          <a:p>
            <a:pPr lvl="1" algn="l"/>
            <a:r>
              <a:rPr lang="en-CA" sz="1800" dirty="0"/>
              <a:t>(Also known as </a:t>
            </a:r>
            <a:r>
              <a:rPr lang="en-CA" sz="1800" b="1" dirty="0"/>
              <a:t>Schema First Approach)</a:t>
            </a:r>
          </a:p>
          <a:p>
            <a:pPr lvl="1" algn="l"/>
            <a:endParaRPr lang="en-CA" sz="2000" b="1" dirty="0"/>
          </a:p>
          <a:p>
            <a:pPr lvl="1" algn="l"/>
            <a:r>
              <a:rPr lang="en-CA" sz="1800" dirty="0"/>
              <a:t>This allows us to leverage an existing database implementation and generate the Model classes and supporting configuration based upon this physical database and the schema.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A74DB-DEF8-6DAC-A1EF-F37EBF3F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5DC98-38C9-213B-02AA-E472246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3DDA5D-4DAC-E98B-57CF-E491E8A9D4F8}"/>
              </a:ext>
            </a:extLst>
          </p:cNvPr>
          <p:cNvSpPr txBox="1">
            <a:spLocks/>
          </p:cNvSpPr>
          <p:nvPr/>
        </p:nvSpPr>
        <p:spPr>
          <a:xfrm>
            <a:off x="6383467" y="996062"/>
            <a:ext cx="4454265" cy="2927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dirty="0">
                <a:latin typeface="+mj-lt"/>
              </a:rPr>
              <a:t>The </a:t>
            </a:r>
            <a:br>
              <a:rPr lang="en-CA" sz="3600" dirty="0">
                <a:latin typeface="+mj-lt"/>
              </a:rPr>
            </a:br>
            <a:r>
              <a:rPr lang="en-CA" sz="3600" dirty="0">
                <a:latin typeface="+mj-lt"/>
              </a:rPr>
              <a:t>Database First Approach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01554A-2568-22DE-9102-9BFBBA982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4" y="1573150"/>
            <a:ext cx="2625085" cy="371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62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E0C3-3478-2F5E-7926-0ED5A7316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1921002"/>
          </a:xfrm>
        </p:spPr>
        <p:txBody>
          <a:bodyPr/>
          <a:lstStyle/>
          <a:p>
            <a:r>
              <a:rPr lang="en-CA" dirty="0"/>
              <a:t>The </a:t>
            </a:r>
            <a:br>
              <a:rPr lang="en-CA" dirty="0"/>
            </a:br>
            <a:r>
              <a:rPr lang="en-CA" dirty="0"/>
              <a:t>Code-First Approach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0ECFD-DA75-683B-7DDE-E1D3DB2CD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6450" y="3088319"/>
            <a:ext cx="5324475" cy="3547873"/>
          </a:xfrm>
        </p:spPr>
        <p:txBody>
          <a:bodyPr>
            <a:normAutofit fontScale="92500" lnSpcReduction="20000"/>
          </a:bodyPr>
          <a:lstStyle/>
          <a:p>
            <a:pPr lvl="1" algn="l"/>
            <a:r>
              <a:rPr lang="en-CA" sz="1800" dirty="0"/>
              <a:t>In this approach you </a:t>
            </a:r>
            <a:r>
              <a:rPr lang="en-CA" sz="1800" b="1" dirty="0"/>
              <a:t>write your C# model classes first </a:t>
            </a:r>
            <a:r>
              <a:rPr lang="en-CA" sz="1800" dirty="0"/>
              <a:t>and the EF can </a:t>
            </a:r>
            <a:r>
              <a:rPr lang="en-CA" sz="1800" b="1" dirty="0"/>
              <a:t>generate a DB for use on the fly </a:t>
            </a:r>
            <a:r>
              <a:rPr lang="en-CA" sz="1800" dirty="0"/>
              <a:t>based upon these class definitions or it can map your classes to an existing DB either using </a:t>
            </a:r>
            <a:r>
              <a:rPr lang="en-CA" sz="1800" i="1" u="sng" dirty="0"/>
              <a:t>Conventions</a:t>
            </a:r>
            <a:r>
              <a:rPr lang="en-CA" sz="1800" dirty="0"/>
              <a:t> (</a:t>
            </a:r>
            <a:r>
              <a:rPr lang="en-CA" sz="1800" i="1" dirty="0"/>
              <a:t>Naming Conventions</a:t>
            </a:r>
            <a:r>
              <a:rPr lang="en-CA" sz="1800" dirty="0"/>
              <a:t>)</a:t>
            </a:r>
            <a:br>
              <a:rPr lang="en-CA" sz="1800" dirty="0"/>
            </a:br>
            <a:endParaRPr lang="en-CA" sz="1800" dirty="0"/>
          </a:p>
          <a:p>
            <a:pPr lvl="1" algn="l"/>
            <a:r>
              <a:rPr lang="en-CA" sz="1800" dirty="0"/>
              <a:t>Or using C# code you can provide an explicit mapping from a property on an object to a column that is in a DB table</a:t>
            </a:r>
            <a:br>
              <a:rPr lang="en-CA" sz="1800" dirty="0"/>
            </a:br>
            <a:endParaRPr lang="en-CA" sz="1800" dirty="0"/>
          </a:p>
          <a:p>
            <a:pPr lvl="1" algn="l"/>
            <a:r>
              <a:rPr lang="en-CA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The Code First approach is the one that is the most widely embraced by developers and industry</a:t>
            </a:r>
            <a:endParaRPr lang="en-CA" sz="1800" dirty="0">
              <a:highlight>
                <a:srgbClr val="FFFF00"/>
              </a:highlight>
            </a:endParaRPr>
          </a:p>
          <a:p>
            <a:pPr algn="ctr"/>
            <a:endParaRPr lang="en-US" sz="1500" dirty="0"/>
          </a:p>
          <a:p>
            <a:pPr algn="ctr"/>
            <a:r>
              <a:rPr lang="en-US" sz="1500" dirty="0"/>
              <a:t>(We will be predominantly using the Code-First Approach)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DB52C-B1CC-3AEA-946F-04E93D270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C1EFF-D326-A2F3-DB1D-9CB154C4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42011C-342E-6E6D-1D7F-8ACC05E99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5" y="1573150"/>
            <a:ext cx="2645120" cy="3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81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CCBB-2DFF-372E-1333-FAC336D76B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Validating model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A75B3-FC70-E111-0A01-53D1478E4C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 ASP.NET Core</a:t>
            </a:r>
          </a:p>
        </p:txBody>
      </p:sp>
    </p:spTree>
    <p:extLst>
      <p:ext uri="{BB962C8B-B14F-4D97-AF65-F5344CB8AC3E}">
        <p14:creationId xmlns:p14="http://schemas.microsoft.com/office/powerpoint/2010/main" val="1164174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274EB-5466-034C-7C59-2070853A0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069"/>
            <a:ext cx="6190488" cy="1179576"/>
          </a:xfrm>
        </p:spPr>
        <p:txBody>
          <a:bodyPr anchor="b">
            <a:normAutofit/>
          </a:bodyPr>
          <a:lstStyle/>
          <a:p>
            <a:r>
              <a:rPr lang="en-US" sz="3800" dirty="0"/>
              <a:t>Using Data Annotations for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6F529-1FC2-D278-EA34-953A6577A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8633"/>
            <a:ext cx="7417308" cy="1179576"/>
          </a:xfrm>
        </p:spPr>
        <p:txBody>
          <a:bodyPr>
            <a:normAutofit/>
          </a:bodyPr>
          <a:lstStyle/>
          <a:p>
            <a:r>
              <a:rPr lang="en-CA" sz="1100" dirty="0"/>
              <a:t>Many forms of Model Validation are implemented directly within the model class, using </a:t>
            </a:r>
            <a:r>
              <a:rPr lang="en-CA" sz="1100" b="1" dirty="0"/>
              <a:t>Data Annotations</a:t>
            </a:r>
            <a:r>
              <a:rPr lang="en-CA" sz="1100" dirty="0"/>
              <a:t>.</a:t>
            </a:r>
          </a:p>
          <a:p>
            <a:r>
              <a:rPr lang="en-CA" sz="1100" dirty="0"/>
              <a:t>You will need a </a:t>
            </a:r>
            <a:r>
              <a:rPr lang="en-CA" sz="1100" b="1" dirty="0"/>
              <a:t>using statement</a:t>
            </a:r>
            <a:r>
              <a:rPr lang="en-CA" sz="1100" dirty="0"/>
              <a:t> for </a:t>
            </a:r>
            <a:r>
              <a:rPr lang="en-CA" sz="1100" b="1" dirty="0"/>
              <a:t>System.ComponentModel.DataAnnotations</a:t>
            </a:r>
            <a:r>
              <a:rPr lang="en-CA" sz="1100" dirty="0"/>
              <a:t> in order to use these validations</a:t>
            </a:r>
          </a:p>
          <a:p>
            <a:r>
              <a:rPr lang="en-CA" sz="1100" dirty="0"/>
              <a:t>Note the validations are implemented directly above the properties they are applied to via special attributes: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E21081E6-9F0B-0F43-CCC4-95017027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8EBAB-972E-588D-A47F-E06B68F83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4A3308-DD94-25BB-0461-D7B17E567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57909"/>
            <a:ext cx="8607108" cy="205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87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57E12-5F1B-E279-B4B8-5A879ABD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INTRODUCTION TO VIEW HELPER METHODS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BCB9D-BA01-44AA-49CE-D218985C6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sz="2000" dirty="0"/>
              <a:t>The MVC Framework comes with a collection of built-in helper methods that are convenient for rendering HTML links, text inputs, checkboxes, selection menus, and even custom controls</a:t>
            </a:r>
          </a:p>
          <a:p>
            <a:r>
              <a:rPr lang="en-CA" sz="2000" dirty="0"/>
              <a:t>You can use HTML helpers within a view to render HTML content. An HTML helper, in most cases, is just a method that returns a string.</a:t>
            </a:r>
          </a:p>
          <a:p>
            <a:r>
              <a:rPr lang="en-CA" sz="2000" dirty="0"/>
              <a:t>You can build an entire ASP.NET MVC application without using a single HTML helper. However, HTML helpers make your life as a developer easier. By taking advantage of helpers, you can build your views with far less work.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625F0-C216-C42D-D7A6-9E6AC59B0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15E83-1939-46C6-9223-0A6C8938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4" name="Picture Placeholder 13" descr="A person lying on a beach mat&#10;&#10;Description automatically generated">
            <a:extLst>
              <a:ext uri="{FF2B5EF4-FFF2-40B4-BE49-F238E27FC236}">
                <a16:creationId xmlns:a16="http://schemas.microsoft.com/office/drawing/2014/main" id="{D176C750-A882-118E-E036-3CF5734C32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38986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4DD2B3-54A1-8DDA-7760-7468666B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97" y="986917"/>
            <a:ext cx="6190488" cy="836676"/>
          </a:xfrm>
        </p:spPr>
        <p:txBody>
          <a:bodyPr/>
          <a:lstStyle/>
          <a:p>
            <a:r>
              <a:rPr lang="en-CA" dirty="0"/>
              <a:t>Form Helpers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ABBA-8721-D5E3-6F95-EE890E1A1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105025"/>
            <a:ext cx="9150858" cy="923925"/>
          </a:xfrm>
        </p:spPr>
        <p:txBody>
          <a:bodyPr>
            <a:normAutofit/>
          </a:bodyPr>
          <a:lstStyle/>
          <a:p>
            <a:r>
              <a:rPr lang="en-US" dirty="0"/>
              <a:t>There are several HTML helpers that you can use to render HTML form elements:</a:t>
            </a:r>
          </a:p>
          <a:p>
            <a:endParaRPr lang="en-US" sz="700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80BED-E53A-F349-7BBB-3091DE49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C80DA-6384-3DBE-614E-0D4EE01E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FAB30-E4A9-C223-EB36-36969898F7C0}"/>
              </a:ext>
            </a:extLst>
          </p:cNvPr>
          <p:cNvSpPr txBox="1"/>
          <p:nvPr/>
        </p:nvSpPr>
        <p:spPr>
          <a:xfrm>
            <a:off x="394335" y="3028950"/>
            <a:ext cx="36084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>
                <a:solidFill>
                  <a:srgbClr val="FF0000"/>
                </a:solidFill>
              </a:rPr>
              <a:t>Html.ActionLink()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Html.BeginForm()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Html.TextBoxFor() </a:t>
            </a:r>
          </a:p>
          <a:p>
            <a:pPr lvl="1"/>
            <a:r>
              <a:rPr lang="en-US" b="1" dirty="0"/>
              <a:t>Html.TextAreaFor() </a:t>
            </a:r>
          </a:p>
          <a:p>
            <a:pPr lvl="1"/>
            <a:r>
              <a:rPr lang="en-US" b="1" dirty="0"/>
              <a:t>Html.DropDownListFor() </a:t>
            </a:r>
          </a:p>
          <a:p>
            <a:pPr lvl="1"/>
            <a:r>
              <a:rPr lang="en-US" b="1" dirty="0"/>
              <a:t>Html.CheckboxFor()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759B6-5411-6518-AB8A-4944F2E50C15}"/>
              </a:ext>
            </a:extLst>
          </p:cNvPr>
          <p:cNvSpPr txBox="1"/>
          <p:nvPr/>
        </p:nvSpPr>
        <p:spPr>
          <a:xfrm>
            <a:off x="4074416" y="3028950"/>
            <a:ext cx="3402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Html.RadioButtonFor() </a:t>
            </a:r>
          </a:p>
          <a:p>
            <a:pPr lvl="1"/>
            <a:r>
              <a:rPr lang="en-US" b="1" dirty="0"/>
              <a:t>Html.ListBoxFor() </a:t>
            </a:r>
          </a:p>
          <a:p>
            <a:pPr lvl="1"/>
            <a:r>
              <a:rPr lang="en-US" b="1" dirty="0"/>
              <a:t>Html.PasswordFor() </a:t>
            </a:r>
          </a:p>
          <a:p>
            <a:pPr lvl="1"/>
            <a:r>
              <a:rPr lang="en-US" b="1" dirty="0"/>
              <a:t>Html.HiddenFor() </a:t>
            </a:r>
          </a:p>
          <a:p>
            <a:pPr lvl="1"/>
            <a:r>
              <a:rPr lang="en-US" b="1" dirty="0"/>
              <a:t>Html.LabelFor()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Html.EditorFor()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68B824F-2121-B40E-76FA-C12E87051575}"/>
              </a:ext>
            </a:extLst>
          </p:cNvPr>
          <p:cNvSpPr txBox="1">
            <a:spLocks/>
          </p:cNvSpPr>
          <p:nvPr/>
        </p:nvSpPr>
        <p:spPr>
          <a:xfrm>
            <a:off x="737996" y="5110797"/>
            <a:ext cx="10387203" cy="923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There are also equivalent form helpers for working with views that are </a:t>
            </a:r>
            <a:r>
              <a:rPr lang="en-CA" b="1" dirty="0"/>
              <a:t>not</a:t>
            </a:r>
            <a:r>
              <a:rPr lang="en-CA" dirty="0"/>
              <a:t> strongly typed, or non-model information. </a:t>
            </a:r>
          </a:p>
          <a:p>
            <a:r>
              <a:rPr lang="en-CA" dirty="0"/>
              <a:t>For example:  </a:t>
            </a:r>
            <a:r>
              <a:rPr lang="en-CA" b="1" dirty="0"/>
              <a:t>Html.TextBox()</a:t>
            </a:r>
            <a:endParaRPr lang="en-US" sz="700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A7EA55-7A3A-9CC3-4EB8-3F1412A42D96}"/>
              </a:ext>
            </a:extLst>
          </p:cNvPr>
          <p:cNvSpPr txBox="1"/>
          <p:nvPr/>
        </p:nvSpPr>
        <p:spPr>
          <a:xfrm>
            <a:off x="7255766" y="3028950"/>
            <a:ext cx="3869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>
                <a:solidFill>
                  <a:srgbClr val="FF0000"/>
                </a:solidFill>
              </a:rPr>
              <a:t>Html.ValidationSummary()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215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ECFD49-FE21-B219-1961-609A3F614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946364" cy="844154"/>
          </a:xfrm>
        </p:spPr>
        <p:txBody>
          <a:bodyPr>
            <a:normAutofit fontScale="90000"/>
          </a:bodyPr>
          <a:lstStyle/>
          <a:p>
            <a:r>
              <a:rPr lang="en-CA" dirty="0"/>
              <a:t>The ActionLink Helper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86CF7-A808-D050-4615-27D547A8E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1" y="2435551"/>
            <a:ext cx="9900217" cy="3736649"/>
          </a:xfrm>
        </p:spPr>
        <p:txBody>
          <a:bodyPr>
            <a:normAutofit fontScale="70000" lnSpcReduction="20000"/>
          </a:bodyPr>
          <a:lstStyle/>
          <a:p>
            <a:r>
              <a:rPr lang="en-CA" dirty="0"/>
              <a:t>The easiest way to render an HTML link in a view is to use the </a:t>
            </a:r>
            <a:r>
              <a:rPr lang="en-CA" b="1" u="sng" dirty="0">
                <a:solidFill>
                  <a:srgbClr val="0070C0"/>
                </a:solidFill>
              </a:rPr>
              <a:t>HTML.ActionLink()</a:t>
            </a:r>
            <a:r>
              <a:rPr lang="en-CA" b="1" dirty="0">
                <a:solidFill>
                  <a:srgbClr val="FF0000"/>
                </a:solidFill>
              </a:rPr>
              <a:t> </a:t>
            </a:r>
            <a:r>
              <a:rPr lang="en-CA" dirty="0"/>
              <a:t>helper. The </a:t>
            </a:r>
            <a:r>
              <a:rPr lang="en-CA" b="1" u="sng" dirty="0">
                <a:solidFill>
                  <a:srgbClr val="0070C0"/>
                </a:solidFill>
              </a:rPr>
              <a:t>Html.ActionLink()</a:t>
            </a:r>
            <a:r>
              <a:rPr lang="en-CA" b="1" dirty="0"/>
              <a:t> does not link to a view</a:t>
            </a:r>
            <a:r>
              <a:rPr lang="en-CA" dirty="0"/>
              <a:t>. </a:t>
            </a:r>
          </a:p>
          <a:p>
            <a:pPr lvl="1"/>
            <a:r>
              <a:rPr lang="en-CA" dirty="0"/>
              <a:t>Instead, you use the </a:t>
            </a:r>
            <a:r>
              <a:rPr lang="en-CA" b="1" u="sng" dirty="0">
                <a:solidFill>
                  <a:srgbClr val="0070C0"/>
                </a:solidFill>
              </a:rPr>
              <a:t>Html.ActionLink()</a:t>
            </a:r>
            <a:r>
              <a:rPr lang="en-CA" b="1" dirty="0"/>
              <a:t> </a:t>
            </a:r>
            <a:r>
              <a:rPr lang="en-CA" dirty="0"/>
              <a:t>helper </a:t>
            </a:r>
            <a:r>
              <a:rPr lang="en-CA" dirty="0">
                <a:solidFill>
                  <a:srgbClr val="FF0000"/>
                </a:solidFill>
              </a:rPr>
              <a:t>to create a link to a </a:t>
            </a:r>
            <a:r>
              <a:rPr lang="en-CA" u="sng" dirty="0">
                <a:solidFill>
                  <a:srgbClr val="FF0000"/>
                </a:solidFill>
              </a:rPr>
              <a:t>controller action</a:t>
            </a:r>
            <a:r>
              <a:rPr lang="en-CA" u="sng" dirty="0"/>
              <a:t>.</a:t>
            </a:r>
          </a:p>
          <a:p>
            <a:r>
              <a:rPr lang="en-CA" dirty="0"/>
              <a:t>The </a:t>
            </a:r>
            <a:r>
              <a:rPr lang="en-CA" b="1" dirty="0"/>
              <a:t>ActionLink(…) </a:t>
            </a:r>
            <a:r>
              <a:rPr lang="en-CA" dirty="0"/>
              <a:t>method has several separate signatures with differing parameters to choose from, as it is an overloaded method.  </a:t>
            </a:r>
            <a:br>
              <a:rPr lang="en-CA" dirty="0"/>
            </a:br>
            <a:r>
              <a:rPr lang="en-CA" dirty="0"/>
              <a:t>In the following example: the first is the </a:t>
            </a:r>
            <a:r>
              <a:rPr lang="en-CA" b="1" dirty="0"/>
              <a:t>text to display in the link</a:t>
            </a:r>
            <a:r>
              <a:rPr lang="en-CA" dirty="0"/>
              <a:t> and the second is </a:t>
            </a:r>
            <a:r>
              <a:rPr lang="en-CA" b="1" dirty="0"/>
              <a:t>the controller action to perform when the user clicks the link</a:t>
            </a:r>
          </a:p>
          <a:p>
            <a:r>
              <a:rPr lang="en-CA" dirty="0"/>
              <a:t>Example:</a:t>
            </a:r>
          </a:p>
          <a:p>
            <a:pPr>
              <a:buNone/>
            </a:pPr>
            <a:r>
              <a:rPr lang="en-CA" dirty="0"/>
              <a:t>You can also pass </a:t>
            </a:r>
            <a:r>
              <a:rPr lang="en-CA" b="1" dirty="0"/>
              <a:t>route values </a:t>
            </a:r>
            <a:r>
              <a:rPr lang="en-CA" dirty="0"/>
              <a:t>from an </a:t>
            </a:r>
            <a:r>
              <a:rPr lang="en-CA" b="1" dirty="0"/>
              <a:t>Html.ActionLink()</a:t>
            </a:r>
            <a:r>
              <a:rPr lang="en-CA" dirty="0"/>
              <a:t> to a controller action. </a:t>
            </a:r>
            <a:br>
              <a:rPr lang="en-CA" dirty="0"/>
            </a:br>
            <a:r>
              <a:rPr lang="en-CA" dirty="0"/>
              <a:t>For example, you might need to pass the </a:t>
            </a:r>
            <a:r>
              <a:rPr lang="en-CA" b="1" dirty="0"/>
              <a:t>Id of a database record </a:t>
            </a:r>
            <a:r>
              <a:rPr lang="en-CA" dirty="0"/>
              <a:t>that you want to edit. Here’s how you pass an Id parameter to the Edit() action:</a:t>
            </a:r>
          </a:p>
          <a:p>
            <a:pPr>
              <a:buNone/>
            </a:pPr>
            <a:endParaRPr lang="en-CA" dirty="0"/>
          </a:p>
          <a:p>
            <a:pPr>
              <a:buNone/>
            </a:pPr>
            <a:r>
              <a:rPr lang="en-CA" dirty="0"/>
              <a:t>When that action link is rendered in the browser , it creates a link like this:</a:t>
            </a:r>
            <a:br>
              <a:rPr lang="en-CA" dirty="0"/>
            </a:br>
            <a:endParaRPr lang="en-CA" dirty="0"/>
          </a:p>
          <a:p>
            <a:pPr>
              <a:buNone/>
            </a:pPr>
            <a:endParaRPr lang="en-CA" dirty="0"/>
          </a:p>
          <a:p>
            <a:pPr lvl="4">
              <a:buNone/>
            </a:pPr>
            <a:endParaRPr lang="en-US" sz="27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FF25F-7251-A713-1D9F-881EC4FC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3DAE4-2157-A98A-9D72-BC4594E3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99A786-DC3C-0369-B801-1158D392E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441" y="4021893"/>
            <a:ext cx="4155246" cy="2819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143010-B6F2-F2A4-66CB-3379E5963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441" y="5073315"/>
            <a:ext cx="3877871" cy="2926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FB4EBA-0761-A9B3-576F-DDE1F6465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441" y="5725868"/>
            <a:ext cx="3800066" cy="32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52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F5AA55-3A01-9CD5-4DC0-4E3794BB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775878"/>
          </a:xfrm>
        </p:spPr>
        <p:txBody>
          <a:bodyPr>
            <a:normAutofit fontScale="90000"/>
          </a:bodyPr>
          <a:lstStyle/>
          <a:p>
            <a:r>
              <a:rPr lang="en-US" dirty="0"/>
              <a:t>EditorFor</a:t>
            </a:r>
            <a:br>
              <a:rPr lang="en-US" dirty="0"/>
            </a:br>
            <a:r>
              <a:rPr lang="en-US" sz="3100" dirty="0"/>
              <a:t>(By Datatype)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A01AA-C711-178F-A4AC-C88F08867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D4B40-C365-BC86-D7C1-20C61815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CE924C1C-4EC5-85C8-7924-AD55823DB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0900" y="2765286"/>
            <a:ext cx="8672480" cy="34721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11651E-B705-A636-2EEC-3321717FEDE3}"/>
              </a:ext>
            </a:extLst>
          </p:cNvPr>
          <p:cNvSpPr txBox="1"/>
          <p:nvPr/>
        </p:nvSpPr>
        <p:spPr>
          <a:xfrm>
            <a:off x="804672" y="2253428"/>
            <a:ext cx="10482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method will render different html controls  depending on the model property’s datatype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506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6275A0-5551-48B3-21C1-5C4BC99A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335024"/>
            <a:ext cx="7251933" cy="1179576"/>
          </a:xfrm>
        </p:spPr>
        <p:txBody>
          <a:bodyPr>
            <a:normAutofit fontScale="90000"/>
          </a:bodyPr>
          <a:lstStyle/>
          <a:p>
            <a:r>
              <a:rPr lang="en-CA" dirty="0"/>
              <a:t>Deeper View of a select few HTML Helpers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AF904-320F-ABCF-9F54-44308584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1" y="2825496"/>
            <a:ext cx="10395873" cy="3346704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Html.BeginForm()</a:t>
            </a:r>
          </a:p>
          <a:p>
            <a:pPr lvl="1"/>
            <a:r>
              <a:rPr lang="en-CA" sz="2400" dirty="0"/>
              <a:t>Writes a &lt;form&gt; tag into the response. When the form is submitted the request will be processed by an action method</a:t>
            </a:r>
          </a:p>
          <a:p>
            <a:r>
              <a:rPr lang="en-US" sz="2800" dirty="0"/>
              <a:t> </a:t>
            </a:r>
            <a:r>
              <a:rPr lang="en-US" sz="2800" b="1" dirty="0"/>
              <a:t>Html.ValidationSummary()</a:t>
            </a:r>
          </a:p>
          <a:p>
            <a:pPr lvl="1"/>
            <a:r>
              <a:rPr lang="en-CA" sz="2400" dirty="0"/>
              <a:t>Returns an unordered list of validation messages that are in the modelState Dictionary object when using DataAnnotations (model validation helpers)</a:t>
            </a:r>
          </a:p>
          <a:p>
            <a:r>
              <a:rPr lang="en-US" sz="2800" b="1" dirty="0"/>
              <a:t>Html.TextBoxFor()</a:t>
            </a:r>
          </a:p>
          <a:p>
            <a:pPr lvl="1"/>
            <a:r>
              <a:rPr lang="en-CA" sz="2400" dirty="0"/>
              <a:t>Used in strongly typed views when you want to display content from a model in a textbox</a:t>
            </a:r>
            <a:endParaRPr lang="en-US" sz="2400" dirty="0"/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2648F-BDDC-DEB2-8675-E85FF6B84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86F7D-1737-F390-F07B-A229BA17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702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491A-AC76-9324-2E95-B45B2ED8A2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92012-73FE-CD4B-91F7-44548B5F44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BMI Calculator</a:t>
            </a:r>
          </a:p>
        </p:txBody>
      </p:sp>
    </p:spTree>
    <p:extLst>
      <p:ext uri="{BB962C8B-B14F-4D97-AF65-F5344CB8AC3E}">
        <p14:creationId xmlns:p14="http://schemas.microsoft.com/office/powerpoint/2010/main" val="1766459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47AA448B-668E-B447-0062-0F81F90B4A3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21667" r="21667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56C6577-B690-3B95-1891-E8D67B7CA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our App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9C1E3-268C-FE39-D34E-F062BDF89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series of Implementation videos that will show you step-by-step how to create our demo for BMI Calculator.</a:t>
            </a:r>
          </a:p>
          <a:p>
            <a:r>
              <a:rPr lang="en-US" dirty="0"/>
              <a:t>Each of the videos will focus on completion of one of the components, while showing how they will incrementally integrate.</a:t>
            </a:r>
          </a:p>
          <a:p>
            <a:r>
              <a:rPr lang="en-US" dirty="0"/>
              <a:t>Before beginning the implementation, refer to the solution video within the next slide to see the application behaviour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0B981-A7F8-E997-56CF-3AFD77C1E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Working with models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5350E-6484-191F-9753-D96BE4C6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9692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F6D9219-B6A7-D052-4AE8-3C595303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72" y="136525"/>
            <a:ext cx="10771632" cy="86056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SOLUTION Video</a:t>
            </a:r>
            <a:br>
              <a:rPr lang="en-US" sz="4000" dirty="0"/>
            </a:br>
            <a:r>
              <a:rPr lang="en-US" sz="2000" dirty="0"/>
              <a:t>(BMI Calculator)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F347E-A592-C9E8-183D-DA9DD26D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8DA9DAA-006C-4F4B-980E-E3DF019B24E2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pic>
        <p:nvPicPr>
          <p:cNvPr id="2" name="SSW (2026) BMI Calculator Walkthru">
            <a:hlinkClick r:id="" action="ppaction://media"/>
            <a:extLst>
              <a:ext uri="{FF2B5EF4-FFF2-40B4-BE49-F238E27FC236}">
                <a16:creationId xmlns:a16="http://schemas.microsoft.com/office/drawing/2014/main" id="{A5D25871-5347-C784-E275-AC0FBCBA27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5958" y="1080000"/>
            <a:ext cx="9300084" cy="54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2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6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D909BD3F-B240-4348-8BE3-67FDD68BA7A7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4A67D12-FAB5-406C-9279-3EAA5A20A6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{287A68DB-5003-4B78-9327-C20F112DC313}tf89338750_win32</Template>
  <TotalTime>2320</TotalTime>
  <Words>1465</Words>
  <Application>Microsoft Office PowerPoint</Application>
  <PresentationFormat>Widescreen</PresentationFormat>
  <Paragraphs>162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Univers</vt:lpstr>
      <vt:lpstr>Custom</vt:lpstr>
      <vt:lpstr>Working with models and strongly-typed views</vt:lpstr>
      <vt:lpstr>Agenda</vt:lpstr>
      <vt:lpstr>The Model</vt:lpstr>
      <vt:lpstr>DEFINING MODELS</vt:lpstr>
      <vt:lpstr>Adding a Model Class</vt:lpstr>
      <vt:lpstr>Implementing Model Classes</vt:lpstr>
      <vt:lpstr>EXAMPLE #1 (BMIResponse)</vt:lpstr>
      <vt:lpstr>EXAMPLE #2 (PollResponseModel)</vt:lpstr>
      <vt:lpstr>The entity framework</vt:lpstr>
      <vt:lpstr>Introduction to the Entity Framework</vt:lpstr>
      <vt:lpstr>DATABASE SUPPORT FOR EF Core</vt:lpstr>
      <vt:lpstr>EF Core vs EF 6</vt:lpstr>
      <vt:lpstr>Approaches to using Entity Framework</vt:lpstr>
      <vt:lpstr>PowerPoint Presentation</vt:lpstr>
      <vt:lpstr>The  Code-First Approach</vt:lpstr>
      <vt:lpstr>Validating model data</vt:lpstr>
      <vt:lpstr>Using Data Annotations for Validation</vt:lpstr>
      <vt:lpstr>INTRODUCTION TO VIEW HELPER METHODS</vt:lpstr>
      <vt:lpstr>Form Helpers</vt:lpstr>
      <vt:lpstr>The ActionLink Helper</vt:lpstr>
      <vt:lpstr>EditorFor (By Datatype)</vt:lpstr>
      <vt:lpstr>Deeper View of a select few HTML Helpers</vt:lpstr>
      <vt:lpstr>DEMO</vt:lpstr>
      <vt:lpstr>Building our App</vt:lpstr>
      <vt:lpstr>SOLUTION Video (BMI Calculator)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models and strongly-typed views</dc:title>
  <dc:creator>Murray, Judson (NBCC)</dc:creator>
  <cp:lastModifiedBy>Murray, Judson (NBCC)</cp:lastModifiedBy>
  <cp:revision>13</cp:revision>
  <dcterms:created xsi:type="dcterms:W3CDTF">2023-09-07T12:29:04Z</dcterms:created>
  <dcterms:modified xsi:type="dcterms:W3CDTF">2026-09-16T12:35:44Z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