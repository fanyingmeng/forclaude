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1B86D2E-9688-45E5-BF0B-7BCA69957CC4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8AB4972-45D3-4453-94C7-2C5A49DFA9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RAZOR FILES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Additional Tidbits and Tricks</a:t>
            </a:r>
            <a:br>
              <a:rPr lang="en-US" dirty="0"/>
            </a:br>
            <a:r>
              <a:rPr lang="en-US" dirty="0"/>
              <a:t>Working with ActionLinks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1328"/>
            <a:ext cx="8507288" cy="4525963"/>
          </a:xfrm>
        </p:spPr>
        <p:txBody>
          <a:bodyPr>
            <a:normAutofit/>
          </a:bodyPr>
          <a:lstStyle/>
          <a:p>
            <a:pPr lvl="1"/>
            <a:r>
              <a:rPr lang="en-CA" sz="2400" dirty="0"/>
              <a:t>Within MVC architecture, </a:t>
            </a:r>
            <a:r>
              <a:rPr lang="en-CA" sz="2400" b="1" dirty="0"/>
              <a:t>Controllers </a:t>
            </a:r>
            <a:r>
              <a:rPr lang="en-CA" sz="2400" dirty="0"/>
              <a:t>are responsible for responding to user input, often making changes to the model in response to user input.</a:t>
            </a:r>
          </a:p>
          <a:p>
            <a:pPr lvl="1"/>
            <a:endParaRPr lang="en-CA" sz="2400" dirty="0"/>
          </a:p>
          <a:p>
            <a:pPr lvl="1"/>
            <a:r>
              <a:rPr lang="en-CA" sz="2400" dirty="0"/>
              <a:t>In this way, controllers in the MVC pattern are concerned with the flow of the application, working with data coming in, and providing data going out to the relevant view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 - Controllers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The URL tells the routing mechanism which controller to instantiate and which action method to call and can also supply the required arguments to that method. </a:t>
            </a:r>
            <a:br>
              <a:rPr lang="en-CA" dirty="0"/>
            </a:br>
            <a:endParaRPr lang="en-CA" dirty="0"/>
          </a:p>
          <a:p>
            <a:r>
              <a:rPr lang="en-CA" dirty="0"/>
              <a:t>The controller's method then decides which view to use, and that view then does the rendering</a:t>
            </a:r>
            <a:br>
              <a:rPr lang="en-CA" dirty="0"/>
            </a:br>
            <a:endParaRPr lang="en-CA" dirty="0"/>
          </a:p>
          <a:p>
            <a:r>
              <a:rPr lang="en-CA" dirty="0"/>
              <a:t>Rather than having a direct relationship between the URL and a file living on the web server's hard drive, </a:t>
            </a:r>
            <a:r>
              <a:rPr lang="en-CA" u="sng" dirty="0"/>
              <a:t>there is a relationship between the URL and a method on a controller class</a:t>
            </a:r>
            <a:endParaRPr lang="en-US" u="sn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Controllers and URLs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CA" b="1" dirty="0">
                <a:solidFill>
                  <a:srgbClr val="FF0000"/>
                </a:solidFill>
              </a:rPr>
              <a:t>Views are not themselves directly accessible</a:t>
            </a:r>
          </a:p>
          <a:p>
            <a:pPr lvl="1" fontAlgn="t"/>
            <a:r>
              <a:rPr lang="en-CA" dirty="0"/>
              <a:t>You can't point your browser to a view and have it render.</a:t>
            </a:r>
          </a:p>
          <a:p>
            <a:pPr lvl="1" fontAlgn="t"/>
            <a:r>
              <a:rPr lang="en-CA" dirty="0"/>
              <a:t>Instead, a view is always rendered by a controller that provides the data that the view will render.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Notes - Views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dirty="0"/>
              <a:t>The MVC convention (default) is that the controller doesn’t indicate the view name to return</a:t>
            </a:r>
          </a:p>
          <a:p>
            <a:pPr lvl="1"/>
            <a:r>
              <a:rPr lang="en-CA" dirty="0"/>
              <a:t>It will then look for a view with the same name as the action result being initiated and return that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However, there is a way to override the convention</a:t>
            </a:r>
          </a:p>
          <a:p>
            <a:pPr lvl="1"/>
            <a:r>
              <a:rPr lang="en-CA" dirty="0"/>
              <a:t>When indicating a view using a name not the same as the current Action but still within the current directory... Simply specify the </a:t>
            </a:r>
            <a:r>
              <a:rPr lang="en-CA" dirty="0" err="1"/>
              <a:t>viewname</a:t>
            </a:r>
            <a:r>
              <a:rPr lang="en-CA" dirty="0"/>
              <a:t> in quotes with the view() method </a:t>
            </a:r>
          </a:p>
          <a:p>
            <a:pPr lvl="2"/>
            <a:r>
              <a:rPr lang="en-CA" dirty="0"/>
              <a:t>return view(“</a:t>
            </a:r>
            <a:r>
              <a:rPr lang="en-CA" dirty="0" err="1"/>
              <a:t>addNums</a:t>
            </a:r>
            <a:r>
              <a:rPr lang="en-CA" dirty="0"/>
              <a:t>”)</a:t>
            </a:r>
          </a:p>
          <a:p>
            <a:pPr lvl="1"/>
            <a:r>
              <a:rPr lang="en-CA" dirty="0"/>
              <a:t>If you want to indicate a view in a different path be used you can use the “~” syntax like so:</a:t>
            </a:r>
          </a:p>
          <a:p>
            <a:pPr lvl="2"/>
            <a:r>
              <a:rPr lang="en-US" dirty="0"/>
              <a:t>return View("~/Views/Example/</a:t>
            </a:r>
            <a:r>
              <a:rPr lang="en-US" dirty="0" err="1"/>
              <a:t>Index.cshtml</a:t>
            </a:r>
            <a:r>
              <a:rPr lang="en-US" dirty="0"/>
              <a:t>");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Returning a View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27992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Strings:</a:t>
            </a:r>
          </a:p>
          <a:p>
            <a:pPr lvl="1"/>
            <a:r>
              <a:rPr lang="en-CA" dirty="0"/>
              <a:t>Unlike most other languages that can use either single or double quotes for strings, </a:t>
            </a:r>
            <a:r>
              <a:rPr lang="en-CA" b="1" dirty="0"/>
              <a:t>Razor syntax requires strings to be enclosed in double quotes</a:t>
            </a:r>
          </a:p>
          <a:p>
            <a:r>
              <a:rPr lang="en-CA" dirty="0"/>
              <a:t>Comments:</a:t>
            </a:r>
          </a:p>
          <a:p>
            <a:pPr lvl="1"/>
            <a:r>
              <a:rPr lang="en-CA" dirty="0"/>
              <a:t>For Razor Syntax Comments:  you can start the comment with </a:t>
            </a:r>
            <a:r>
              <a:rPr lang="en-CA" b="1" dirty="0">
                <a:solidFill>
                  <a:srgbClr val="92D050"/>
                </a:solidFill>
              </a:rPr>
              <a:t>@*</a:t>
            </a:r>
            <a:r>
              <a:rPr lang="en-CA" dirty="0"/>
              <a:t> and end it with </a:t>
            </a:r>
            <a:r>
              <a:rPr lang="en-CA" b="1" dirty="0">
                <a:solidFill>
                  <a:srgbClr val="92D050"/>
                </a:solidFill>
              </a:rPr>
              <a:t>*@</a:t>
            </a:r>
            <a:br>
              <a:rPr lang="en-CA" b="1" dirty="0">
                <a:solidFill>
                  <a:srgbClr val="92D050"/>
                </a:solidFill>
              </a:rPr>
            </a:br>
            <a:endParaRPr lang="en-CA" b="1" dirty="0">
              <a:solidFill>
                <a:srgbClr val="92D050"/>
              </a:solidFill>
            </a:endParaRPr>
          </a:p>
          <a:p>
            <a:pPr lvl="2"/>
            <a:r>
              <a:rPr lang="en-CA" b="1" dirty="0">
                <a:solidFill>
                  <a:srgbClr val="92D050"/>
                </a:solidFill>
              </a:rPr>
              <a:t>@* this is a RAZOR syntax comment *@</a:t>
            </a:r>
          </a:p>
          <a:p>
            <a:pPr lvl="1"/>
            <a:r>
              <a:rPr lang="en-CA" dirty="0"/>
              <a:t>Inside a code block, as an alternative to using Razor comment syntax, you can use the commenting syntax of the programming language you're using:</a:t>
            </a:r>
          </a:p>
          <a:p>
            <a:pPr lvl="1">
              <a:buNone/>
            </a:pPr>
            <a:r>
              <a:rPr lang="en-CA" dirty="0"/>
              <a:t>		@{ </a:t>
            </a:r>
          </a:p>
          <a:p>
            <a:pPr lvl="1">
              <a:buNone/>
            </a:pPr>
            <a:r>
              <a:rPr lang="en-CA" dirty="0"/>
              <a:t>			</a:t>
            </a:r>
            <a:r>
              <a:rPr lang="en-CA" b="1" dirty="0">
                <a:solidFill>
                  <a:srgbClr val="92D050"/>
                </a:solidFill>
              </a:rPr>
              <a:t>// This is a comment when using C#</a:t>
            </a:r>
          </a:p>
          <a:p>
            <a:pPr lvl="1">
              <a:buNone/>
            </a:pPr>
            <a:r>
              <a:rPr lang="en-CA" dirty="0"/>
              <a:t>          }</a:t>
            </a:r>
            <a:br>
              <a:rPr lang="en-CA" dirty="0"/>
            </a:br>
            <a:endParaRPr lang="en-CA" dirty="0"/>
          </a:p>
          <a:p>
            <a:pPr lvl="1"/>
            <a:r>
              <a:rPr lang="en-CA" dirty="0"/>
              <a:t>Razor templates will also generally contain HTML.  You can still use html comments for the html elements</a:t>
            </a:r>
          </a:p>
          <a:p>
            <a:pPr lvl="1"/>
            <a:r>
              <a:rPr lang="en-CA" b="1" dirty="0">
                <a:solidFill>
                  <a:srgbClr val="92D050"/>
                </a:solidFill>
              </a:rPr>
              <a:t>&lt;!-html content can still have html comments in razor views</a:t>
            </a:r>
            <a:r>
              <a:rPr lang="en-CA" b="1" dirty="0">
                <a:solidFill>
                  <a:srgbClr val="92D050"/>
                </a:solidFill>
                <a:sym typeface="Wingdings" pitchFamily="2" charset="2"/>
              </a:rPr>
              <a:t></a:t>
            </a:r>
            <a:endParaRPr lang="en-CA" b="1" dirty="0">
              <a:solidFill>
                <a:srgbClr val="92D050"/>
              </a:solidFill>
            </a:endParaRPr>
          </a:p>
          <a:p>
            <a:pPr lvl="2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CA" dirty="0"/>
              <a:t>Razor Tidbits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Variables:</a:t>
            </a:r>
          </a:p>
          <a:p>
            <a:pPr lvl="1"/>
            <a:r>
              <a:rPr lang="en-CA" dirty="0"/>
              <a:t>Variables </a:t>
            </a:r>
            <a:r>
              <a:rPr lang="en-CA" b="1" dirty="0"/>
              <a:t>can</a:t>
            </a:r>
            <a:r>
              <a:rPr lang="en-CA" dirty="0"/>
              <a:t> use specific datatypes – </a:t>
            </a:r>
            <a:r>
              <a:rPr lang="en-CA" b="1" dirty="0"/>
              <a:t>OR not</a:t>
            </a:r>
          </a:p>
          <a:p>
            <a:pPr lvl="1"/>
            <a:r>
              <a:rPr lang="en-CA" dirty="0"/>
              <a:t>Examples:</a:t>
            </a:r>
          </a:p>
          <a:p>
            <a:pPr lvl="1">
              <a:buNone/>
            </a:pPr>
            <a:r>
              <a:rPr lang="en-US" dirty="0"/>
              <a:t>@{</a:t>
            </a:r>
          </a:p>
          <a:p>
            <a:pPr lvl="1">
              <a:buNone/>
            </a:pPr>
            <a:r>
              <a:rPr lang="en-US" dirty="0"/>
              <a:t>		var message= “Hello!"; </a:t>
            </a:r>
          </a:p>
          <a:p>
            <a:pPr lvl="1">
              <a:buNone/>
            </a:pPr>
            <a:r>
              <a:rPr lang="en-US" dirty="0"/>
              <a:t>    	var num= 5; </a:t>
            </a:r>
          </a:p>
          <a:p>
            <a:pPr lvl="1">
              <a:buNone/>
            </a:pPr>
            <a:r>
              <a:rPr lang="en-US" dirty="0"/>
              <a:t>     	var today = DateTime.Today; </a:t>
            </a:r>
          </a:p>
          <a:p>
            <a:pPr lvl="1">
              <a:buNone/>
            </a:pPr>
            <a:r>
              <a:rPr lang="en-US" dirty="0"/>
              <a:t>     	var currentPageUrl= this.Request.Url; </a:t>
            </a:r>
          </a:p>
          <a:p>
            <a:pPr lvl="1">
              <a:buNone/>
            </a:pPr>
            <a:r>
              <a:rPr lang="en-US" dirty="0"/>
              <a:t>     	string name = "Joe"; </a:t>
            </a:r>
          </a:p>
          <a:p>
            <a:pPr lvl="1">
              <a:buNone/>
            </a:pPr>
            <a:r>
              <a:rPr lang="en-US" dirty="0"/>
              <a:t>     	int count = 5; </a:t>
            </a:r>
          </a:p>
          <a:p>
            <a:pPr lvl="1">
              <a:buNone/>
            </a:pPr>
            <a:r>
              <a:rPr lang="en-US" dirty="0"/>
              <a:t>    	DateTime tomorrow = DateTime.Now.AddDays(1); </a:t>
            </a:r>
          </a:p>
          <a:p>
            <a:pPr lvl="1">
              <a:buNone/>
            </a:pPr>
            <a:r>
              <a:rPr lang="en-US" dirty="0"/>
              <a:t>}</a:t>
            </a:r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Razor Tidbits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09728" indent="0">
              <a:buNone/>
            </a:pPr>
            <a:r>
              <a:rPr lang="en-US" dirty="0"/>
              <a:t>&lt;ul&gt;</a:t>
            </a:r>
          </a:p>
          <a:p>
            <a:pPr marL="365760" lvl="1" indent="0">
              <a:buNone/>
            </a:pPr>
            <a:r>
              <a:rPr lang="en-US" dirty="0"/>
              <a:t> &lt;li&gt; </a:t>
            </a:r>
          </a:p>
          <a:p>
            <a:pPr marL="603504" lvl="2" indent="0">
              <a:buNone/>
            </a:pPr>
            <a:r>
              <a:rPr lang="en-US" dirty="0"/>
              <a:t>@Html.ActionLink(</a:t>
            </a:r>
          </a:p>
          <a:p>
            <a:pPr marL="603504" lvl="2" indent="0">
              <a:buNone/>
            </a:pPr>
            <a:r>
              <a:rPr lang="en-US" dirty="0"/>
              <a:t>    "Bonus Calculator", </a:t>
            </a:r>
            <a:r>
              <a:rPr lang="en-US" b="1" dirty="0"/>
              <a:t>//linkText</a:t>
            </a:r>
          </a:p>
          <a:p>
            <a:pPr marL="603504" lvl="2" indent="0">
              <a:buNone/>
            </a:pPr>
            <a:r>
              <a:rPr lang="en-US" dirty="0"/>
              <a:t>    "BonusCalc", </a:t>
            </a:r>
            <a:r>
              <a:rPr lang="en-US" b="1" dirty="0"/>
              <a:t>//actionName</a:t>
            </a:r>
          </a:p>
          <a:p>
            <a:pPr marL="603504" lvl="2" indent="0">
              <a:buNone/>
            </a:pPr>
            <a:r>
              <a:rPr lang="en-US" dirty="0"/>
              <a:t>    "Home", </a:t>
            </a:r>
            <a:r>
              <a:rPr lang="en-US" b="1" dirty="0"/>
              <a:t>//controllerName</a:t>
            </a:r>
          </a:p>
          <a:p>
            <a:pPr marL="603504" lvl="2" indent="0">
              <a:buNone/>
            </a:pPr>
            <a:r>
              <a:rPr lang="en-US" dirty="0"/>
              <a:t>     new { @amount = 1000 }, </a:t>
            </a:r>
            <a:r>
              <a:rPr lang="en-US" b="1" dirty="0"/>
              <a:t>//routeValues … in this case querystring values</a:t>
            </a:r>
          </a:p>
          <a:p>
            <a:pPr marL="603504" lvl="2" indent="0">
              <a:buNone/>
            </a:pPr>
            <a:r>
              <a:rPr lang="en-US" dirty="0"/>
              <a:t>     null </a:t>
            </a:r>
            <a:r>
              <a:rPr lang="en-US" b="1" dirty="0"/>
              <a:t>//htmlAttributes</a:t>
            </a:r>
            <a:r>
              <a:rPr lang="en-US" dirty="0"/>
              <a:t>)</a:t>
            </a:r>
          </a:p>
          <a:p>
            <a:pPr marL="365760" lvl="1" indent="0">
              <a:buNone/>
            </a:pPr>
            <a:r>
              <a:rPr lang="en-US" dirty="0"/>
              <a:t>&lt;/li&gt;</a:t>
            </a:r>
          </a:p>
          <a:p>
            <a:pPr marL="365760" lvl="1" indent="0">
              <a:buNone/>
            </a:pPr>
            <a:r>
              <a:rPr lang="en-US" dirty="0"/>
              <a:t> &lt;li&gt;</a:t>
            </a:r>
          </a:p>
          <a:p>
            <a:pPr marL="603504" lvl="2" indent="0">
              <a:buNone/>
            </a:pPr>
            <a:r>
              <a:rPr lang="en-US" dirty="0"/>
              <a:t>@Html.ActionLink(</a:t>
            </a:r>
          </a:p>
          <a:p>
            <a:pPr marL="1143000" lvl="4" indent="0">
              <a:buNone/>
            </a:pPr>
            <a:r>
              <a:rPr lang="en-US" dirty="0"/>
              <a:t>"Carpet Calculator", //linkText</a:t>
            </a:r>
          </a:p>
          <a:p>
            <a:pPr marL="1143000" lvl="4" indent="0">
              <a:buNone/>
            </a:pPr>
            <a:r>
              <a:rPr lang="en-US" dirty="0"/>
              <a:t>"CarpetCalc", //actionName</a:t>
            </a:r>
          </a:p>
          <a:p>
            <a:pPr marL="1143000" lvl="4" indent="0">
              <a:buNone/>
            </a:pPr>
            <a:r>
              <a:rPr lang="en-US" dirty="0"/>
              <a:t>"Home", //controllerName</a:t>
            </a:r>
          </a:p>
          <a:p>
            <a:pPr marL="1143000" lvl="4" indent="0">
              <a:buNone/>
            </a:pPr>
            <a:r>
              <a:rPr lang="en-US" dirty="0"/>
              <a:t>new { @length = 10, @width = 7, @color = "Tan", @style = "Berber" }, //routeValues</a:t>
            </a:r>
          </a:p>
          <a:p>
            <a:pPr marL="1115568" lvl="4" indent="0">
              <a:buNone/>
            </a:pPr>
            <a:r>
              <a:rPr lang="en-US" dirty="0"/>
              <a:t> null //htmlAttributes)</a:t>
            </a:r>
          </a:p>
          <a:p>
            <a:pPr marL="365760" lvl="1" indent="0">
              <a:buNone/>
            </a:pPr>
            <a:r>
              <a:rPr lang="en-US" dirty="0"/>
              <a:t>&lt;/li&gt;</a:t>
            </a:r>
          </a:p>
          <a:p>
            <a:pPr marL="109728" indent="0">
              <a:buNone/>
            </a:pPr>
            <a:r>
              <a:rPr lang="en-US" dirty="0"/>
              <a:t>&lt;/ul&gt;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ActionLinks</a:t>
            </a:r>
          </a:p>
        </p:txBody>
      </p:sp>
    </p:spTree>
    <p:extLst>
      <p:ext uri="{BB962C8B-B14F-4D97-AF65-F5344CB8AC3E}">
        <p14:creationId xmlns:p14="http://schemas.microsoft.com/office/powerpoint/2010/main" val="768359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7635</TotalTime>
  <Words>647</Words>
  <Application>Microsoft Office PowerPoint</Application>
  <PresentationFormat>On-screen Show (4:3)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Lucida Sans Unicode</vt:lpstr>
      <vt:lpstr>Verdana</vt:lpstr>
      <vt:lpstr>Wingdings 2</vt:lpstr>
      <vt:lpstr>Wingdings 3</vt:lpstr>
      <vt:lpstr>Concourse</vt:lpstr>
      <vt:lpstr>RAZOR FILES</vt:lpstr>
      <vt:lpstr>Review - Controllers</vt:lpstr>
      <vt:lpstr>Controllers and URLs</vt:lpstr>
      <vt:lpstr>Notes - Views</vt:lpstr>
      <vt:lpstr>Returning a View</vt:lpstr>
      <vt:lpstr>Razor Tidbits</vt:lpstr>
      <vt:lpstr>Razor Tidbits</vt:lpstr>
      <vt:lpstr>ActionLinks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Deeper Look at Controllers and Views</dc:title>
  <dc:creator>ccstaff</dc:creator>
  <cp:lastModifiedBy>Murray, Judson (NBCC)</cp:lastModifiedBy>
  <cp:revision>41</cp:revision>
  <dcterms:created xsi:type="dcterms:W3CDTF">2012-11-25T23:20:37Z</dcterms:created>
  <dcterms:modified xsi:type="dcterms:W3CDTF">2023-09-08T12:44:31Z</dcterms:modified>
</cp:coreProperties>
</file>