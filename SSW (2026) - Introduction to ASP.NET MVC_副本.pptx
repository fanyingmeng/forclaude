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257" r:id="rId3"/>
    <p:sldId id="267" r:id="rId4"/>
    <p:sldId id="268" r:id="rId5"/>
    <p:sldId id="271" r:id="rId6"/>
    <p:sldId id="270" r:id="rId7"/>
    <p:sldId id="269" r:id="rId8"/>
    <p:sldId id="272" r:id="rId9"/>
    <p:sldId id="273" r:id="rId10"/>
    <p:sldId id="274" r:id="rId11"/>
    <p:sldId id="277" r:id="rId12"/>
    <p:sldId id="275" r:id="rId13"/>
    <p:sldId id="276" r:id="rId14"/>
    <p:sldId id="287" r:id="rId15"/>
    <p:sldId id="311" r:id="rId16"/>
    <p:sldId id="278" r:id="rId17"/>
    <p:sldId id="279" r:id="rId18"/>
    <p:sldId id="280" r:id="rId19"/>
    <p:sldId id="281" r:id="rId20"/>
    <p:sldId id="283" r:id="rId21"/>
    <p:sldId id="282" r:id="rId22"/>
    <p:sldId id="284" r:id="rId23"/>
    <p:sldId id="285" r:id="rId24"/>
    <p:sldId id="286" r:id="rId25"/>
    <p:sldId id="288" r:id="rId26"/>
    <p:sldId id="289" r:id="rId27"/>
    <p:sldId id="290" r:id="rId28"/>
    <p:sldId id="291" r:id="rId29"/>
    <p:sldId id="293" r:id="rId30"/>
    <p:sldId id="292" r:id="rId31"/>
    <p:sldId id="294" r:id="rId32"/>
    <p:sldId id="295" r:id="rId33"/>
    <p:sldId id="297" r:id="rId34"/>
    <p:sldId id="298" r:id="rId35"/>
    <p:sldId id="296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10" r:id="rId47"/>
    <p:sldId id="30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 (SSW)" id="{34010ED4-0C84-4F35-BDF5-F6C92E90B42E}">
          <p14:sldIdLst>
            <p14:sldId id="256"/>
            <p14:sldId id="257"/>
            <p14:sldId id="267"/>
            <p14:sldId id="268"/>
            <p14:sldId id="271"/>
            <p14:sldId id="270"/>
            <p14:sldId id="269"/>
            <p14:sldId id="272"/>
            <p14:sldId id="273"/>
            <p14:sldId id="274"/>
            <p14:sldId id="277"/>
            <p14:sldId id="275"/>
            <p14:sldId id="276"/>
          </p14:sldIdLst>
        </p14:section>
        <p14:section name="Checking VS / SDK versions" id="{DB1AEFDE-3129-4B0C-8807-64BB8158354B}">
          <p14:sldIdLst>
            <p14:sldId id="287"/>
            <p14:sldId id="311"/>
          </p14:sldIdLst>
        </p14:section>
        <p14:section name="Creating a new Project" id="{37643C59-97CE-4C25-83A5-ABE0304949E9}">
          <p14:sldIdLst>
            <p14:sldId id="278"/>
            <p14:sldId id="279"/>
            <p14:sldId id="280"/>
            <p14:sldId id="281"/>
            <p14:sldId id="283"/>
            <p14:sldId id="282"/>
          </p14:sldIdLst>
        </p14:section>
        <p14:section name="Working with Controllers and Actions" id="{887114BA-0F55-4AA0-BC43-7197827B2C74}">
          <p14:sldIdLst>
            <p14:sldId id="284"/>
            <p14:sldId id="285"/>
            <p14:sldId id="286"/>
            <p14:sldId id="288"/>
            <p14:sldId id="289"/>
            <p14:sldId id="290"/>
            <p14:sldId id="291"/>
            <p14:sldId id="293"/>
            <p14:sldId id="292"/>
            <p14:sldId id="294"/>
            <p14:sldId id="295"/>
            <p14:sldId id="297"/>
          </p14:sldIdLst>
        </p14:section>
        <p14:section name="Using Razor Views" id="{81C3865B-C126-43FC-B6C6-5E9863AAE29B}">
          <p14:sldIdLst>
            <p14:sldId id="298"/>
            <p14:sldId id="296"/>
            <p14:sldId id="299"/>
            <p14:sldId id="300"/>
            <p14:sldId id="301"/>
            <p14:sldId id="302"/>
          </p14:sldIdLst>
        </p14:section>
        <p14:section name="Intoduction to Routing" id="{3D10C6D5-E1AD-409E-B3B8-0B3EDDAFF421}">
          <p14:sldIdLst>
            <p14:sldId id="303"/>
            <p14:sldId id="304"/>
            <p14:sldId id="305"/>
            <p14:sldId id="306"/>
            <p14:sldId id="307"/>
            <p14:sldId id="308"/>
            <p14:sldId id="310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C9552E-2239-41DA-433B-7139407C24AF}" name="Murray, Judson (NBCC)" initials="MJ(" userId="S::Judson.Murray@nbcc.ca::633a1c6a-fe48-4eb8-96e8-36ac4a0087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0" autoAdjust="0"/>
    <p:restoredTop sz="94706" autoAdjust="0"/>
  </p:normalViewPr>
  <p:slideViewPr>
    <p:cSldViewPr>
      <p:cViewPr varScale="1">
        <p:scale>
          <a:sx n="132" d="100"/>
          <a:sy n="132" d="100"/>
        </p:scale>
        <p:origin x="16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C5132-FFA3-4B02-9F09-22FCF40EFA7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20D7-F8F1-4196-9585-26F31AFC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E42C9-243F-4DC5-AFF6-9D56B5FA9D6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EC444-603B-4F09-9A06-5917518DD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54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20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00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/>
          <p:cNvSpPr/>
          <p:nvPr/>
        </p:nvSpPr>
        <p:spPr bwMode="invGray">
          <a:xfrm>
            <a:off x="0" y="3936697"/>
            <a:ext cx="12192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4114800"/>
            <a:ext cx="10515598" cy="1158446"/>
          </a:xfrm>
        </p:spPr>
        <p:txBody>
          <a:bodyPr anchor="b">
            <a:normAutofit/>
          </a:bodyPr>
          <a:lstStyle>
            <a:lvl1pPr algn="l">
              <a:defRPr sz="5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338170"/>
            <a:ext cx="10515598" cy="47483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07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7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3276600"/>
            <a:ext cx="12192000" cy="2763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29000"/>
            <a:ext cx="9601200" cy="1838519"/>
          </a:xfrm>
        </p:spPr>
        <p:txBody>
          <a:bodyPr anchor="b">
            <a:norm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5340096"/>
            <a:ext cx="9601200" cy="47548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735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7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61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61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9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4000"/>
            <a:ext cx="3429000" cy="19050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400800" cy="5257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9000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7048"/>
            <a:ext cx="3429000" cy="1901952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838198" y="685800"/>
            <a:ext cx="6400800" cy="5257800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8999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7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5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41693" y="365125"/>
            <a:ext cx="160020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344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81000" y="6549715"/>
            <a:ext cx="8442158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9685939" y="6549715"/>
            <a:ext cx="1667860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0FE2824-C2A0-4931-BB32-60B24BDBB3CC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799" y="6549715"/>
            <a:ext cx="446361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13333A4-2EF1-4B79-B68C-AB20E66B48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71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freecodecamp.org/simplified-explanation-to-mvc-5d307796df3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67/HelloWorld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://localhost:5167/HelloWorld/Welcome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://localhost:5167/HelloWorld/Welcome?name=Johnny&amp;age=25/" TargetMode="Externa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SERVER-SIDE WEB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 to ASP.NET Projects / MVC Designs</a:t>
            </a:r>
          </a:p>
        </p:txBody>
      </p:sp>
    </p:spTree>
    <p:extLst>
      <p:ext uri="{BB962C8B-B14F-4D97-AF65-F5344CB8AC3E}">
        <p14:creationId xmlns:p14="http://schemas.microsoft.com/office/powerpoint/2010/main" val="2142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An Overview of Developing in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F29B974-EAD1-CD8A-C07E-96D79493D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84" y="990600"/>
            <a:ext cx="9343832" cy="550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1B43-5883-DCAC-B809-2E0C859B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507" y="207964"/>
            <a:ext cx="10515600" cy="47307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An Overview of the History of .NET Frameworks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4E43B2D-21F9-FD60-6BF6-0E3696090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525" y="5211444"/>
            <a:ext cx="11028947" cy="995363"/>
          </a:xfrm>
        </p:spPr>
        <p:txBody>
          <a:bodyPr>
            <a:normAutofit/>
          </a:bodyPr>
          <a:lstStyle/>
          <a:p>
            <a:r>
              <a:rPr lang="en-US" sz="1800" dirty="0"/>
              <a:t>Both .NET Framework and .NET Core were supported simultaneously as 2 distinct frameworks – until they were unified into a single SDK as of .NET 5.0</a:t>
            </a:r>
          </a:p>
        </p:txBody>
      </p:sp>
      <p:pic>
        <p:nvPicPr>
          <p:cNvPr id="4" name="Picture 3" descr="A diagram of a timeline&#10;&#10;Description automatically generated">
            <a:extLst>
              <a:ext uri="{FF2B5EF4-FFF2-40B4-BE49-F238E27FC236}">
                <a16:creationId xmlns:a16="http://schemas.microsoft.com/office/drawing/2014/main" id="{D4D2305F-DB0C-6138-4103-77D3E7CDC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7" y="838200"/>
            <a:ext cx="10696074" cy="4064508"/>
          </a:xfrm>
          <a:prstGeom prst="rect">
            <a:avLst/>
          </a:prstGeom>
          <a:noFill/>
        </p:spPr>
      </p:pic>
      <p:pic>
        <p:nvPicPr>
          <p:cNvPr id="10" name="Picture 9" descr="A diagram of a timeline&#10;&#10;AI-generated content may be incorrect.">
            <a:extLst>
              <a:ext uri="{FF2B5EF4-FFF2-40B4-BE49-F238E27FC236}">
                <a16:creationId xmlns:a16="http://schemas.microsoft.com/office/drawing/2014/main" id="{F7B0AC98-705B-17A7-DE59-1B71F5844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70" y="838200"/>
            <a:ext cx="11697655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C6C41B-7AF0-8DF3-CCA4-D09EFC32F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70" y="838200"/>
            <a:ext cx="11908184" cy="411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3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3F03-2124-7664-568A-D0FA46B54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/>
          <a:lstStyle/>
          <a:p>
            <a:pPr algn="ctr"/>
            <a:r>
              <a:rPr lang="en-US" dirty="0"/>
              <a:t>MODERN .NET SUPPORTS MANY OUTCOMES</a:t>
            </a:r>
          </a:p>
        </p:txBody>
      </p:sp>
      <p:pic>
        <p:nvPicPr>
          <p:cNvPr id="5" name="Content Placeholder 4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62AB9C40-1799-D384-25DF-F2411389F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22" y="1219200"/>
            <a:ext cx="9753955" cy="5157529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AC8212-DF5C-CD9E-5FA0-E187C133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67" y="1185111"/>
            <a:ext cx="9950063" cy="515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8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EA09-1284-E93F-C7A7-0B142F9F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/>
          <a:lstStyle/>
          <a:p>
            <a:pPr algn="ctr"/>
            <a:r>
              <a:rPr lang="en-US" dirty="0"/>
              <a:t>INTRODUCTION TO ASP.NET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B690F-3BB7-FFE8-BD08-4339F1C10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>
            <a:normAutofit/>
          </a:bodyPr>
          <a:lstStyle/>
          <a:p>
            <a:r>
              <a:rPr lang="en-CA" sz="2400" dirty="0"/>
              <a:t>ASP.Net provides a complete, flexible framework for creating web applications in a variety of different patterns, including utilizing MVC Architecture</a:t>
            </a:r>
          </a:p>
          <a:p>
            <a:r>
              <a:rPr lang="en-CA" sz="2400" dirty="0"/>
              <a:t>The ASP.Net MVC framework is:</a:t>
            </a:r>
          </a:p>
          <a:p>
            <a:pPr lvl="1"/>
            <a:r>
              <a:rPr lang="en-CA" sz="2000" dirty="0"/>
              <a:t>Lightweight </a:t>
            </a:r>
          </a:p>
          <a:p>
            <a:pPr lvl="1"/>
            <a:r>
              <a:rPr lang="en-CA" sz="2000" dirty="0"/>
              <a:t>Flexible</a:t>
            </a:r>
          </a:p>
          <a:p>
            <a:pPr lvl="1"/>
            <a:r>
              <a:rPr lang="en-CA" sz="2000" dirty="0"/>
              <a:t>Highly Testable</a:t>
            </a:r>
          </a:p>
          <a:p>
            <a:pPr lvl="1"/>
            <a:r>
              <a:rPr lang="en-CA" sz="2000" dirty="0"/>
              <a:t>Integrates with many existing ASP.Net features</a:t>
            </a:r>
          </a:p>
          <a:p>
            <a:pPr lvl="1"/>
            <a:r>
              <a:rPr lang="en-CA" sz="2000" dirty="0"/>
              <a:t>Provides robust (&amp; unique) functionality</a:t>
            </a:r>
          </a:p>
          <a:p>
            <a:r>
              <a:rPr lang="en-CA" sz="2400" dirty="0"/>
              <a:t>Modern ASP.NET Projects can leverage many of the newest frameworks and services for faster development</a:t>
            </a:r>
            <a:endParaRPr lang="en-US" sz="2400" dirty="0"/>
          </a:p>
        </p:txBody>
      </p:sp>
      <p:pic>
        <p:nvPicPr>
          <p:cNvPr id="13" name="Picture 12" descr="A blue and black symbol&#10;&#10;Description automatically generated">
            <a:extLst>
              <a:ext uri="{FF2B5EF4-FFF2-40B4-BE49-F238E27FC236}">
                <a16:creationId xmlns:a16="http://schemas.microsoft.com/office/drawing/2014/main" id="{7CDB947B-65B7-8DD9-539E-1EDEC02E01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054" y="5562600"/>
            <a:ext cx="863522" cy="750889"/>
          </a:xfrm>
          <a:prstGeom prst="rect">
            <a:avLst/>
          </a:prstGeom>
        </p:spPr>
      </p:pic>
      <p:pic>
        <p:nvPicPr>
          <p:cNvPr id="15" name="Picture 14" descr="A logo of a company&#10;&#10;Description automatically generated">
            <a:extLst>
              <a:ext uri="{FF2B5EF4-FFF2-40B4-BE49-F238E27FC236}">
                <a16:creationId xmlns:a16="http://schemas.microsoft.com/office/drawing/2014/main" id="{BC4977DC-AE68-7573-E0D5-539926A604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728" y="4324837"/>
            <a:ext cx="1151848" cy="931377"/>
          </a:xfrm>
          <a:prstGeom prst="rect">
            <a:avLst/>
          </a:prstGeom>
        </p:spPr>
      </p:pic>
      <p:pic>
        <p:nvPicPr>
          <p:cNvPr id="19" name="Picture 18" descr="A red and white logo&#10;&#10;Description automatically generated">
            <a:extLst>
              <a:ext uri="{FF2B5EF4-FFF2-40B4-BE49-F238E27FC236}">
                <a16:creationId xmlns:a16="http://schemas.microsoft.com/office/drawing/2014/main" id="{F1F81361-4A54-C40A-E227-AE02292F4D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4400299"/>
            <a:ext cx="811113" cy="855915"/>
          </a:xfrm>
          <a:prstGeom prst="rect">
            <a:avLst/>
          </a:prstGeom>
        </p:spPr>
      </p:pic>
      <p:pic>
        <p:nvPicPr>
          <p:cNvPr id="21" name="Picture 20" descr="A white letter on a purple square&#10;&#10;Description automatically generated">
            <a:extLst>
              <a:ext uri="{FF2B5EF4-FFF2-40B4-BE49-F238E27FC236}">
                <a16:creationId xmlns:a16="http://schemas.microsoft.com/office/drawing/2014/main" id="{EAEC0A55-AC4E-D1AF-BE4E-B062218797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775" y="555148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7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5570-B1B9-A491-D49F-65E416A4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ASP.NET – Project Types</a:t>
            </a:r>
          </a:p>
        </p:txBody>
      </p:sp>
      <p:pic>
        <p:nvPicPr>
          <p:cNvPr id="5" name="Content Placeholder 4" descr="A screenshot of a web page overview&#10;&#10;Description automatically generated">
            <a:extLst>
              <a:ext uri="{FF2B5EF4-FFF2-40B4-BE49-F238E27FC236}">
                <a16:creationId xmlns:a16="http://schemas.microsoft.com/office/drawing/2014/main" id="{A64A6DAF-4FB5-B671-DDE2-4B95ADC49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069" y="990600"/>
            <a:ext cx="9443861" cy="5537169"/>
          </a:xfrm>
        </p:spPr>
      </p:pic>
    </p:spTree>
    <p:extLst>
      <p:ext uri="{BB962C8B-B14F-4D97-AF65-F5344CB8AC3E}">
        <p14:creationId xmlns:p14="http://schemas.microsoft.com/office/powerpoint/2010/main" val="192832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E51DFA3-B354-6346-4F73-771572271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93" y="304800"/>
            <a:ext cx="11596013" cy="600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1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988F-2B8D-6AAE-41D8-98C96EE7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>
            <a:normAutofit/>
          </a:bodyPr>
          <a:lstStyle/>
          <a:p>
            <a:r>
              <a:rPr lang="en-US" sz="2800" dirty="0"/>
              <a:t>REVIEW: The MVC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6FA2-AE48-48B9-F131-869249770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MVC is a design pattern that stands for Model-View-Controller. </a:t>
            </a:r>
          </a:p>
          <a:p>
            <a:r>
              <a:rPr lang="en-US" dirty="0"/>
              <a:t>What it strives to do is separate the concerns of an application’s presentation layer by assigning specific roles to the three different components.</a:t>
            </a:r>
          </a:p>
          <a:p>
            <a:r>
              <a:rPr lang="en-US" dirty="0"/>
              <a:t>The MVC Design Pattern has been used for many years – and it did NOT originate with Microsoft </a:t>
            </a: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REFERENCE: https://medium.freecodecamp.org/simplified-explanation-to-mvc-5d307796df30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65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FF5F-C8B9-30A4-6A2D-A6FCA2AD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/>
          <a:lstStyle/>
          <a:p>
            <a:r>
              <a:rPr lang="en-CA" dirty="0"/>
              <a:t>Advantages of MVC Web Apps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79AE-C692-664D-0599-1CB70204D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Easier management of complexity by dividing an application into the model, the view and the controller</a:t>
            </a:r>
          </a:p>
          <a:p>
            <a:r>
              <a:rPr lang="en-CA" dirty="0"/>
              <a:t>The MVC framework is ideal for developers who want full control over the behaviour of the application</a:t>
            </a:r>
          </a:p>
          <a:p>
            <a:r>
              <a:rPr lang="en-CA" dirty="0"/>
              <a:t>It uses a front controller pattern that processes web application requests through a single controller. This enables you to design an application that supports a rich &amp; dynamic routing infrastructure</a:t>
            </a:r>
          </a:p>
          <a:p>
            <a:r>
              <a:rPr lang="en-CA" dirty="0"/>
              <a:t>It provides better support for </a:t>
            </a:r>
            <a:r>
              <a:rPr lang="en-CA" b="1" dirty="0"/>
              <a:t>TDD</a:t>
            </a:r>
            <a:r>
              <a:rPr lang="en-CA" dirty="0"/>
              <a:t> (Test-Driven Development)</a:t>
            </a:r>
          </a:p>
          <a:p>
            <a:r>
              <a:rPr lang="en-CA" dirty="0"/>
              <a:t>It works well for web applications that are supported by large teams of developers and for web designers who need a high degree of control over the application behaviour</a:t>
            </a:r>
          </a:p>
          <a:p>
            <a:r>
              <a:rPr lang="en-CA" dirty="0"/>
              <a:t>MVC Web applications often run faster and render better HTML content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0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0CFEFC-CC2F-3958-29B3-1874A14A7409}"/>
              </a:ext>
            </a:extLst>
          </p:cNvPr>
          <p:cNvSpPr/>
          <p:nvPr/>
        </p:nvSpPr>
        <p:spPr>
          <a:xfrm>
            <a:off x="5334000" y="2285999"/>
            <a:ext cx="5701077" cy="3809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192A5-1BB7-B6B0-6F22-82C648EF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 MVC Architecture In-Action</a:t>
            </a:r>
          </a:p>
        </p:txBody>
      </p:sp>
      <p:pic>
        <p:nvPicPr>
          <p:cNvPr id="5" name="Picture 4" descr="https://cdn-images-1.medium.com/max/1000/1*GWCgR4arPpxpdt29amRQOA.png">
            <a:extLst>
              <a:ext uri="{FF2B5EF4-FFF2-40B4-BE49-F238E27FC236}">
                <a16:creationId xmlns:a16="http://schemas.microsoft.com/office/drawing/2014/main" id="{6591B8FF-B176-77D3-E6F2-9AE21A11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124200"/>
            <a:ext cx="2015433" cy="233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13E229-526B-17CA-6722-B1BD45128B77}"/>
              </a:ext>
            </a:extLst>
          </p:cNvPr>
          <p:cNvSpPr/>
          <p:nvPr/>
        </p:nvSpPr>
        <p:spPr>
          <a:xfrm>
            <a:off x="685800" y="2297866"/>
            <a:ext cx="4419600" cy="37981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1F11A-600D-CC14-F37E-99616F0F1A17}"/>
              </a:ext>
            </a:extLst>
          </p:cNvPr>
          <p:cNvSpPr txBox="1"/>
          <p:nvPr/>
        </p:nvSpPr>
        <p:spPr>
          <a:xfrm>
            <a:off x="2341602" y="24504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62D0B0A-960D-BFBE-8999-7EB17E88A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13092"/>
            <a:ext cx="7735486" cy="3668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CC8DBE-2B9C-9C21-5153-FA79D5BDE321}"/>
              </a:ext>
            </a:extLst>
          </p:cNvPr>
          <p:cNvSpPr txBox="1"/>
          <p:nvPr/>
        </p:nvSpPr>
        <p:spPr>
          <a:xfrm>
            <a:off x="7602487" y="2444986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0137F9-27D2-898C-362D-04B20F4C47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238" y="3184816"/>
            <a:ext cx="601351" cy="10061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BC2538-D0D6-5542-EC96-435F7C07535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989" y="32579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8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B0C1-668F-865E-607D-55CF3F9C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So…What is MVC?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BE8CA-BEA6-02BC-AC98-AD5EB16FA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sz="2000" dirty="0"/>
              <a:t>The </a:t>
            </a:r>
            <a:r>
              <a:rPr lang="en-CA" sz="2000" b="1" dirty="0">
                <a:solidFill>
                  <a:srgbClr val="FF0000"/>
                </a:solidFill>
              </a:rPr>
              <a:t>M</a:t>
            </a:r>
            <a:r>
              <a:rPr lang="en-CA" sz="2000" b="1" dirty="0"/>
              <a:t>odel-</a:t>
            </a:r>
            <a:r>
              <a:rPr lang="en-CA" sz="2000" b="1" dirty="0">
                <a:solidFill>
                  <a:srgbClr val="FF0000"/>
                </a:solidFill>
              </a:rPr>
              <a:t>V</a:t>
            </a:r>
            <a:r>
              <a:rPr lang="en-CA" sz="2000" b="1" dirty="0"/>
              <a:t>iew-</a:t>
            </a:r>
            <a:r>
              <a:rPr lang="en-CA" sz="2000" b="1" dirty="0">
                <a:solidFill>
                  <a:srgbClr val="FF0000"/>
                </a:solidFill>
              </a:rPr>
              <a:t>C</a:t>
            </a:r>
            <a:r>
              <a:rPr lang="en-CA" sz="2000" b="1" dirty="0"/>
              <a:t>ontroller</a:t>
            </a:r>
            <a:r>
              <a:rPr lang="en-CA" sz="2000" dirty="0"/>
              <a:t> (</a:t>
            </a:r>
            <a:r>
              <a:rPr lang="en-CA" sz="2000" b="1" dirty="0">
                <a:solidFill>
                  <a:srgbClr val="FF0000"/>
                </a:solidFill>
              </a:rPr>
              <a:t>MVC</a:t>
            </a:r>
            <a:r>
              <a:rPr lang="en-CA" sz="2000" dirty="0"/>
              <a:t>) architectural pattern separates an application into 3 main components:</a:t>
            </a:r>
          </a:p>
          <a:p>
            <a:endParaRPr lang="en-CA" sz="2000" dirty="0"/>
          </a:p>
          <a:p>
            <a:pPr lvl="1"/>
            <a:r>
              <a:rPr lang="en-CA" sz="1800" b="1" dirty="0"/>
              <a:t>The</a:t>
            </a:r>
            <a:r>
              <a:rPr lang="en-CA" sz="1800" dirty="0"/>
              <a:t> </a:t>
            </a:r>
            <a:r>
              <a:rPr lang="en-CA" sz="1800" b="1" dirty="0">
                <a:solidFill>
                  <a:srgbClr val="FF0000"/>
                </a:solidFill>
              </a:rPr>
              <a:t>M</a:t>
            </a:r>
            <a:r>
              <a:rPr lang="en-CA" sz="1800" b="1" dirty="0"/>
              <a:t>odel</a:t>
            </a:r>
          </a:p>
          <a:p>
            <a:pPr lvl="2"/>
            <a:r>
              <a:rPr lang="en-CA" sz="1600" dirty="0"/>
              <a:t>Models are classes that represent the data of the application and use validation logic to enforce business rules for that data</a:t>
            </a:r>
          </a:p>
          <a:p>
            <a:pPr lvl="2"/>
            <a:r>
              <a:rPr lang="en-CA" sz="1600" dirty="0"/>
              <a:t>Model objects are the parts of the application  that implement the logic for the application’s data domain. Often model objects retrieve and store model state in a database.</a:t>
            </a:r>
          </a:p>
          <a:p>
            <a:pPr marL="502920" lvl="2" indent="0">
              <a:buNone/>
            </a:pPr>
            <a:endParaRPr lang="en-CA" sz="1600" dirty="0"/>
          </a:p>
          <a:p>
            <a:pPr lvl="1"/>
            <a:r>
              <a:rPr lang="en-CA" sz="1800" b="1" dirty="0"/>
              <a:t>The </a:t>
            </a:r>
            <a:r>
              <a:rPr lang="en-CA" sz="1800" b="1" dirty="0">
                <a:solidFill>
                  <a:srgbClr val="FF0000"/>
                </a:solidFill>
              </a:rPr>
              <a:t>V</a:t>
            </a:r>
            <a:r>
              <a:rPr lang="en-CA" sz="1800" b="1" dirty="0"/>
              <a:t>iew</a:t>
            </a:r>
          </a:p>
          <a:p>
            <a:pPr lvl="2"/>
            <a:r>
              <a:rPr lang="en-CA" sz="1600" dirty="0"/>
              <a:t>Views are the components that display the application’s user interface.  Typically this UI is created from the model data. An example would be an edit view of a products table that displays text boxes, drop-down lists, and check boxes based on the current state of a product object.</a:t>
            </a:r>
          </a:p>
          <a:p>
            <a:pPr lvl="2"/>
            <a:r>
              <a:rPr lang="en-CA" sz="1600" dirty="0"/>
              <a:t>Views are template files that your application uses to dynamically generate HTML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56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4AEA-2049-1276-0BBD-42BB506D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So…What is MVC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57C0-34FE-1D5B-CAF5-04FA573F4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CA" b="1" dirty="0"/>
              <a:t>The </a:t>
            </a:r>
            <a:r>
              <a:rPr lang="en-CA" b="1" dirty="0">
                <a:solidFill>
                  <a:srgbClr val="FF0000"/>
                </a:solidFill>
              </a:rPr>
              <a:t>C</a:t>
            </a:r>
            <a:r>
              <a:rPr lang="en-CA" b="1" dirty="0"/>
              <a:t>ontroller</a:t>
            </a:r>
          </a:p>
          <a:p>
            <a:pPr lvl="2"/>
            <a:r>
              <a:rPr lang="en-CA" dirty="0"/>
              <a:t>Controllers are classes that handle incoming requests to the application, retrieve model data, and then specify view templates that return responses to the client.</a:t>
            </a:r>
          </a:p>
          <a:p>
            <a:pPr lvl="2"/>
            <a:endParaRPr lang="en-CA" dirty="0"/>
          </a:p>
          <a:p>
            <a:pPr lvl="2"/>
            <a:r>
              <a:rPr lang="en-CA" b="1" dirty="0"/>
              <a:t>Controllers …. control things in MVC</a:t>
            </a:r>
            <a:r>
              <a:rPr lang="en-CA" dirty="0"/>
              <a:t>.  They are the components that handle user interaction, work with the model, and ultimately select a view to render that displays the UI. </a:t>
            </a:r>
          </a:p>
          <a:p>
            <a:pPr lvl="2"/>
            <a:endParaRPr lang="en-CA" dirty="0"/>
          </a:p>
          <a:p>
            <a:pPr lvl="2"/>
            <a:r>
              <a:rPr lang="en-CA" dirty="0"/>
              <a:t>In an MVC application </a:t>
            </a:r>
            <a:r>
              <a:rPr lang="en-CA" u="sng" dirty="0"/>
              <a:t>the view only displays information</a:t>
            </a:r>
            <a:r>
              <a:rPr lang="en-CA" dirty="0"/>
              <a:t>, </a:t>
            </a:r>
            <a:r>
              <a:rPr lang="en-CA" b="1" dirty="0"/>
              <a:t>the controller handles and responds to user input and interaction</a:t>
            </a:r>
            <a:r>
              <a:rPr lang="en-CA" dirty="0"/>
              <a:t>.  For example, the controller handles query string values and passes these values to the model, which in turn might use these values to query the database.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AA5D-4082-4DB5-362B-0359F5EF8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Working with the MVC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C1A3D-1125-F5CC-125B-5F83FB85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The </a:t>
            </a:r>
            <a:r>
              <a:rPr lang="en-CA" b="1" dirty="0">
                <a:solidFill>
                  <a:srgbClr val="FF0000"/>
                </a:solidFill>
              </a:rPr>
              <a:t>MVC</a:t>
            </a:r>
            <a:r>
              <a:rPr lang="en-CA" dirty="0"/>
              <a:t> pattern helps you create applications that separate the different aspects of the application (input logic, business logic, and UI logic), </a:t>
            </a:r>
            <a:r>
              <a:rPr lang="en-CA" dirty="0">
                <a:solidFill>
                  <a:srgbClr val="FF0000"/>
                </a:solidFill>
              </a:rPr>
              <a:t>while providing a </a:t>
            </a:r>
            <a:r>
              <a:rPr lang="en-CA" b="1" dirty="0">
                <a:solidFill>
                  <a:srgbClr val="FF0000"/>
                </a:solidFill>
              </a:rPr>
              <a:t>loose coupling </a:t>
            </a:r>
            <a:r>
              <a:rPr lang="en-CA" dirty="0">
                <a:solidFill>
                  <a:srgbClr val="FF0000"/>
                </a:solidFill>
              </a:rPr>
              <a:t>between these elements. </a:t>
            </a:r>
          </a:p>
          <a:p>
            <a:r>
              <a:rPr lang="en-CA" dirty="0"/>
              <a:t>The pattern specifies where each kind of logic should be located in the application. </a:t>
            </a:r>
          </a:p>
          <a:p>
            <a:pPr lvl="1"/>
            <a:r>
              <a:rPr lang="en-CA" dirty="0"/>
              <a:t>The UI logic belongs in the view. </a:t>
            </a:r>
          </a:p>
          <a:p>
            <a:pPr lvl="1"/>
            <a:r>
              <a:rPr lang="en-CA" dirty="0"/>
              <a:t>Input logic belongs in the controller. </a:t>
            </a:r>
          </a:p>
          <a:p>
            <a:pPr lvl="1"/>
            <a:r>
              <a:rPr lang="en-CA" dirty="0"/>
              <a:t>Business logic belongs in the model. </a:t>
            </a:r>
          </a:p>
          <a:p>
            <a:r>
              <a:rPr lang="en-CA" dirty="0"/>
              <a:t>This separation helps you manage complexity when you build an application, because it enables you to focus on one aspect of the implementation at a time (ex: you can focus on the view without depending on the business logic)</a:t>
            </a:r>
          </a:p>
          <a:p>
            <a:r>
              <a:rPr lang="en-CA" dirty="0"/>
              <a:t>The loose coupling between the 3 main components also promotes parallel development. </a:t>
            </a:r>
          </a:p>
          <a:p>
            <a:pPr lvl="1"/>
            <a:r>
              <a:rPr lang="en-CA" dirty="0"/>
              <a:t>For example: one developer can work on the view, another can work on the controller logic, and a third can focus on the business logic in the model.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3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51A3A1-5A88-A293-7177-BF19F19BCC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4000" y="1278730"/>
            <a:ext cx="6532039" cy="3674270"/>
          </a:xfr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3C9FB2-6FCE-6F32-FF3F-22A951642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9" y="1278730"/>
            <a:ext cx="6361372" cy="3590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F9384-F5AA-21A4-04E4-0AFDC4B3C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9" y="1278729"/>
            <a:ext cx="6525127" cy="3226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12478-D63D-7AA6-B86A-4F57EAAD6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311" y="1278729"/>
            <a:ext cx="6515330" cy="36648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73180E-6D6D-BFDA-BD3A-A5C686C3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 anchor="b">
            <a:normAutofit/>
          </a:bodyPr>
          <a:lstStyle/>
          <a:p>
            <a:r>
              <a:rPr lang="en-US" dirty="0"/>
              <a:t>Preparing for Development in ASP.NET Core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61B516-4C75-98C5-4679-AA246DF94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78730"/>
            <a:ext cx="5029200" cy="4881563"/>
          </a:xfrm>
        </p:spPr>
        <p:txBody>
          <a:bodyPr/>
          <a:lstStyle/>
          <a:p>
            <a:r>
              <a:rPr lang="en-US" dirty="0"/>
              <a:t>Launch the Visual Studio Installer</a:t>
            </a:r>
          </a:p>
          <a:p>
            <a:r>
              <a:rPr lang="en-US" dirty="0"/>
              <a:t>Ensure that you have </a:t>
            </a:r>
            <a:r>
              <a:rPr lang="en-US" b="1" dirty="0">
                <a:solidFill>
                  <a:srgbClr val="FF0000"/>
                </a:solidFill>
              </a:rPr>
              <a:t>Visual Studio 2026</a:t>
            </a:r>
            <a:r>
              <a:rPr lang="en-US" b="1" dirty="0"/>
              <a:t> </a:t>
            </a:r>
            <a:r>
              <a:rPr lang="en-US" dirty="0"/>
              <a:t>installed</a:t>
            </a:r>
          </a:p>
          <a:p>
            <a:pPr lvl="1"/>
            <a:r>
              <a:rPr lang="en-US" dirty="0"/>
              <a:t>This must be updated to v</a:t>
            </a:r>
            <a:r>
              <a:rPr lang="en-US" b="1" dirty="0"/>
              <a:t>18.19.2</a:t>
            </a:r>
            <a:r>
              <a:rPr lang="en-US" dirty="0"/>
              <a:t> (or greater)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Once Visual Studio is updated, ensure that your version of .NET v10.0 is v</a:t>
            </a:r>
            <a:r>
              <a:rPr lang="en-US" b="1" dirty="0"/>
              <a:t>10.0.400</a:t>
            </a:r>
            <a:r>
              <a:rPr lang="en-US" dirty="0"/>
              <a:t> or greater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B53C45-A098-E0D6-E114-FFB5AF084107}"/>
              </a:ext>
            </a:extLst>
          </p:cNvPr>
          <p:cNvSpPr/>
          <p:nvPr/>
        </p:nvSpPr>
        <p:spPr>
          <a:xfrm flipH="1">
            <a:off x="5580092" y="4090319"/>
            <a:ext cx="4325907" cy="6555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84CB8EB-9E9F-F116-5F38-08DA9E74F09C}"/>
              </a:ext>
            </a:extLst>
          </p:cNvPr>
          <p:cNvSpPr/>
          <p:nvPr/>
        </p:nvSpPr>
        <p:spPr>
          <a:xfrm rot="20068966">
            <a:off x="4663146" y="4506253"/>
            <a:ext cx="576064" cy="245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AA2119-23DC-4A44-2D81-074B2F2FCB9A}"/>
              </a:ext>
            </a:extLst>
          </p:cNvPr>
          <p:cNvSpPr txBox="1"/>
          <p:nvPr/>
        </p:nvSpPr>
        <p:spPr>
          <a:xfrm>
            <a:off x="5327983" y="5109955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Note: Versions of SDKs and IDEs are inter-dependent.  Do not try installing older versions of IDEs with newer versions of SDKs (as they will not work correctly)</a:t>
            </a:r>
          </a:p>
          <a:p>
            <a:endParaRPr lang="en-US" sz="1600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BBE923-64AB-1927-DE33-32E89B3D7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93" y="5996518"/>
            <a:ext cx="6019800" cy="3275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7ED8CE-FA83-01DB-B604-5876147A75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1" y="4468938"/>
            <a:ext cx="2666999" cy="1540932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B4E86933-A064-192A-92E1-3A3AA1669589}"/>
              </a:ext>
            </a:extLst>
          </p:cNvPr>
          <p:cNvSpPr/>
          <p:nvPr/>
        </p:nvSpPr>
        <p:spPr>
          <a:xfrm rot="10800000">
            <a:off x="4195608" y="4943602"/>
            <a:ext cx="576064" cy="245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EA74D5-8D6D-61F4-8984-7BB680B9EF32}"/>
              </a:ext>
            </a:extLst>
          </p:cNvPr>
          <p:cNvSpPr/>
          <p:nvPr/>
        </p:nvSpPr>
        <p:spPr>
          <a:xfrm flipH="1">
            <a:off x="381001" y="4468938"/>
            <a:ext cx="3627488" cy="1623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D516DE0-27E9-220A-0D4B-DADC3E2F18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016" y="4507768"/>
            <a:ext cx="2508584" cy="14158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53CCC6-2EC4-BA4C-B933-44433D6F1D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426" y="4505608"/>
            <a:ext cx="3514046" cy="1541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EDA1A9-E018-A255-D92D-E787822D09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380" y="4485111"/>
            <a:ext cx="3531053" cy="153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2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C8C0-8D5E-43B6-DFC6-E02523F4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VISUAL STUDIO – WORKLOADS</a:t>
            </a:r>
            <a:br>
              <a:rPr lang="en-US" dirty="0"/>
            </a:br>
            <a:r>
              <a:rPr lang="en-US" sz="2200" dirty="0"/>
              <a:t>(&amp; AVAILABLE PROJECTS)</a:t>
            </a:r>
            <a:endParaRPr lang="en-US" dirty="0"/>
          </a:p>
        </p:txBody>
      </p:sp>
      <p:pic>
        <p:nvPicPr>
          <p:cNvPr id="6" name="Content Placeholder 5" descr="A green alien with pointy ears&#10;&#10;Description automatically generated">
            <a:extLst>
              <a:ext uri="{FF2B5EF4-FFF2-40B4-BE49-F238E27FC236}">
                <a16:creationId xmlns:a16="http://schemas.microsoft.com/office/drawing/2014/main" id="{1A5B65B3-4CF3-9800-2C37-CA908A93D5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95" y="1658302"/>
            <a:ext cx="3433762" cy="343376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434F5-5191-0F5B-997E-91DBFCBEE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34492" y="1719580"/>
            <a:ext cx="3505200" cy="4351338"/>
          </a:xfrm>
        </p:spPr>
        <p:txBody>
          <a:bodyPr/>
          <a:lstStyle/>
          <a:p>
            <a:r>
              <a:rPr lang="en-US" dirty="0"/>
              <a:t>NOTE:  </a:t>
            </a:r>
            <a:r>
              <a:rPr lang="en-US" sz="1800" dirty="0"/>
              <a:t>If you do not see ASP.NET Core projects within the available list of choices when creating a new Project, ensure that you have the </a:t>
            </a:r>
            <a:r>
              <a:rPr lang="en-US" sz="1800" b="1" dirty="0">
                <a:solidFill>
                  <a:srgbClr val="FF0000"/>
                </a:solidFill>
              </a:rPr>
              <a:t>ASP.NET and web development</a:t>
            </a:r>
            <a:r>
              <a:rPr lang="en-US" sz="1800" dirty="0"/>
              <a:t> workload selected/installed within your version of Visual Studio using the Visual Studio Installer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AE3A9-B3F5-3029-A150-034C59F23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95" y="1371600"/>
            <a:ext cx="7315200" cy="45205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63726E-511C-6C5F-5FDA-86079A95F81A}"/>
              </a:ext>
            </a:extLst>
          </p:cNvPr>
          <p:cNvSpPr/>
          <p:nvPr/>
        </p:nvSpPr>
        <p:spPr>
          <a:xfrm flipH="1">
            <a:off x="645695" y="2191702"/>
            <a:ext cx="2362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FE6E44-DE89-B331-85CC-4573970CA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37" y="1371600"/>
            <a:ext cx="8081150" cy="454564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C153733-BF09-EC83-9026-8454E9DD703C}"/>
              </a:ext>
            </a:extLst>
          </p:cNvPr>
          <p:cNvSpPr/>
          <p:nvPr/>
        </p:nvSpPr>
        <p:spPr>
          <a:xfrm rot="2707557">
            <a:off x="107864" y="2301607"/>
            <a:ext cx="576064" cy="245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7519-B7C3-EA24-77B6-9891C0F2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1371600"/>
            <a:ext cx="3429000" cy="835152"/>
          </a:xfrm>
        </p:spPr>
        <p:txBody>
          <a:bodyPr anchor="b">
            <a:normAutofit/>
          </a:bodyPr>
          <a:lstStyle/>
          <a:p>
            <a:r>
              <a:rPr lang="en-US" dirty="0"/>
              <a:t>Getting Started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4E096-508E-5428-8165-52BE619D8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066418"/>
            <a:ext cx="6400800" cy="44965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E85CF-1411-C739-A3B9-833295DDD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24800" y="2514600"/>
            <a:ext cx="3428999" cy="1828800"/>
          </a:xfrm>
        </p:spPr>
        <p:txBody>
          <a:bodyPr>
            <a:normAutofit/>
          </a:bodyPr>
          <a:lstStyle/>
          <a:p>
            <a:r>
              <a:rPr lang="en-CA" dirty="0"/>
              <a:t>Let’s get our feet wet now and </a:t>
            </a:r>
            <a:r>
              <a:rPr lang="en-CA" sz="1600" dirty="0"/>
              <a:t>create our First Application in ASP.NET Core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4B2525-65C4-71F6-ACA8-79FA1E63A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86" y="921174"/>
            <a:ext cx="6915624" cy="478704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228DEF1-7F05-2A49-6C94-617D94FD987B}"/>
              </a:ext>
            </a:extLst>
          </p:cNvPr>
          <p:cNvSpPr/>
          <p:nvPr/>
        </p:nvSpPr>
        <p:spPr>
          <a:xfrm>
            <a:off x="4495800" y="1524000"/>
            <a:ext cx="1080120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8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C012F41-5199-F46C-14E6-6966EC13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1066418"/>
            <a:ext cx="34290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CHOOSE YOUR PROJECT 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499A40-9FDD-37AC-31BB-CDA323EED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66418"/>
            <a:ext cx="6400800" cy="4496563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8A204FA-0055-42E9-307D-522326F0E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24800" y="2220278"/>
            <a:ext cx="3429000" cy="2019301"/>
          </a:xfrm>
        </p:spPr>
        <p:txBody>
          <a:bodyPr>
            <a:normAutofit/>
          </a:bodyPr>
          <a:lstStyle/>
          <a:p>
            <a:r>
              <a:rPr lang="en-US" dirty="0"/>
              <a:t>NOTE: There are many types of ASP.NET Projects (both .NET Framework and .NET Core)</a:t>
            </a:r>
          </a:p>
          <a:p>
            <a:endParaRPr lang="en-US" dirty="0"/>
          </a:p>
          <a:p>
            <a:r>
              <a:rPr lang="en-US" dirty="0"/>
              <a:t>Ensure you pay close attention to the naming.  Using the Project Name Filter is very helpful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DFC27EE-3C65-C4B6-0BD7-725320E040AB}"/>
              </a:ext>
            </a:extLst>
          </p:cNvPr>
          <p:cNvSpPr/>
          <p:nvPr/>
        </p:nvSpPr>
        <p:spPr>
          <a:xfrm rot="10800000">
            <a:off x="7361911" y="4239579"/>
            <a:ext cx="112577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DD916-1701-94C1-6EFA-BA8C5DD78B53}"/>
              </a:ext>
            </a:extLst>
          </p:cNvPr>
          <p:cNvSpPr txBox="1"/>
          <p:nvPr/>
        </p:nvSpPr>
        <p:spPr>
          <a:xfrm>
            <a:off x="4502085" y="325578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10420-1295-DD62-64CB-8A58A57F5C37}"/>
              </a:ext>
            </a:extLst>
          </p:cNvPr>
          <p:cNvSpPr txBox="1"/>
          <p:nvPr/>
        </p:nvSpPr>
        <p:spPr>
          <a:xfrm>
            <a:off x="8602342" y="4096433"/>
            <a:ext cx="448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BB95C-86CB-0495-E770-3D4BDEEA4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87" y="1019730"/>
            <a:ext cx="6800524" cy="470737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296FCFB-F308-0B12-E536-2250F5742428}"/>
              </a:ext>
            </a:extLst>
          </p:cNvPr>
          <p:cNvSpPr/>
          <p:nvPr/>
        </p:nvSpPr>
        <p:spPr>
          <a:xfrm rot="8185285">
            <a:off x="3920855" y="943784"/>
            <a:ext cx="576064" cy="245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8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70BAAD-C2AB-337E-DB85-1B0309EC9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62" y="645413"/>
            <a:ext cx="7106938" cy="4992625"/>
          </a:xfr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808981-4533-82F5-F58F-79DA5356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67" y="645413"/>
            <a:ext cx="7103833" cy="49886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527C05-6A8E-A615-8DF6-918820814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67" y="645413"/>
            <a:ext cx="7484833" cy="49825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93186A-F622-528E-E199-261F98B26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18" y="668417"/>
            <a:ext cx="7484833" cy="518106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617D309-A2FA-E0E8-55FD-4BD26492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0" y="645413"/>
            <a:ext cx="3429000" cy="80238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PROJECT CONFIGURATION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F90A2-BA1A-8506-9C7D-82B459E8A69D}"/>
              </a:ext>
            </a:extLst>
          </p:cNvPr>
          <p:cNvSpPr txBox="1"/>
          <p:nvPr/>
        </p:nvSpPr>
        <p:spPr>
          <a:xfrm>
            <a:off x="8849307" y="1721196"/>
            <a:ext cx="1628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SELECT THE NAME</a:t>
            </a:r>
            <a:br>
              <a:rPr lang="en-US" sz="1200" dirty="0">
                <a:solidFill>
                  <a:schemeClr val="accent1"/>
                </a:solidFill>
              </a:rPr>
            </a:br>
            <a:r>
              <a:rPr lang="en-US" sz="1200" dirty="0">
                <a:solidFill>
                  <a:schemeClr val="accent1"/>
                </a:solidFill>
              </a:rPr>
              <a:t>FOR YOUR PROJECT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51869-AFFA-C9D6-3B5E-3341F3E45BE1}"/>
              </a:ext>
            </a:extLst>
          </p:cNvPr>
          <p:cNvSpPr txBox="1"/>
          <p:nvPr/>
        </p:nvSpPr>
        <p:spPr>
          <a:xfrm>
            <a:off x="8868357" y="2232066"/>
            <a:ext cx="2151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CHOOSE THE PATH FOR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YOUR PROJECT (KEEP THIS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AS SHORT AS POSSIBLE)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349F34-7741-1583-60F7-7BC9C7C9C197}"/>
              </a:ext>
            </a:extLst>
          </p:cNvPr>
          <p:cNvSpPr txBox="1"/>
          <p:nvPr/>
        </p:nvSpPr>
        <p:spPr>
          <a:xfrm>
            <a:off x="8170344" y="1628864"/>
            <a:ext cx="821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1: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ECE31E-2D23-ED1F-1C84-5107B4D9EAC1}"/>
              </a:ext>
            </a:extLst>
          </p:cNvPr>
          <p:cNvSpPr txBox="1"/>
          <p:nvPr/>
        </p:nvSpPr>
        <p:spPr>
          <a:xfrm>
            <a:off x="8171336" y="2188937"/>
            <a:ext cx="591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2: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739997-495C-93B8-B008-E0330E1C6D28}"/>
              </a:ext>
            </a:extLst>
          </p:cNvPr>
          <p:cNvSpPr/>
          <p:nvPr/>
        </p:nvSpPr>
        <p:spPr>
          <a:xfrm flipH="1">
            <a:off x="452063" y="3505200"/>
            <a:ext cx="5375215" cy="245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3A2EF-9DC9-9753-A740-68746F684A4F}"/>
              </a:ext>
            </a:extLst>
          </p:cNvPr>
          <p:cNvSpPr/>
          <p:nvPr/>
        </p:nvSpPr>
        <p:spPr>
          <a:xfrm flipH="1">
            <a:off x="489445" y="2209800"/>
            <a:ext cx="5375215" cy="245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E563B17-C62D-9DB2-8497-A5CB5B1441F7}"/>
              </a:ext>
            </a:extLst>
          </p:cNvPr>
          <p:cNvSpPr/>
          <p:nvPr/>
        </p:nvSpPr>
        <p:spPr>
          <a:xfrm rot="10800000">
            <a:off x="5887000" y="1923715"/>
            <a:ext cx="576064" cy="245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64527C8-B8FF-5D1E-AC78-90A698E253BC}"/>
              </a:ext>
            </a:extLst>
          </p:cNvPr>
          <p:cNvSpPr/>
          <p:nvPr/>
        </p:nvSpPr>
        <p:spPr>
          <a:xfrm rot="10800000">
            <a:off x="5910331" y="3508981"/>
            <a:ext cx="576064" cy="245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BDBFAD-3D14-D864-6160-6B3CFA08F366}"/>
              </a:ext>
            </a:extLst>
          </p:cNvPr>
          <p:cNvSpPr txBox="1"/>
          <p:nvPr/>
        </p:nvSpPr>
        <p:spPr>
          <a:xfrm>
            <a:off x="6486395" y="1636926"/>
            <a:ext cx="540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C42E9-3D1C-1DFE-7709-D1653EF52C79}"/>
              </a:ext>
            </a:extLst>
          </p:cNvPr>
          <p:cNvSpPr txBox="1"/>
          <p:nvPr/>
        </p:nvSpPr>
        <p:spPr>
          <a:xfrm>
            <a:off x="6463064" y="3304669"/>
            <a:ext cx="530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50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8DFD3-6BD7-9518-CEAC-74E1244B3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66418"/>
            <a:ext cx="6400800" cy="4496563"/>
          </a:xfr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C27B32-94AE-457C-6B77-4DF42FD1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066417"/>
            <a:ext cx="6403105" cy="4496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55745C-CD40-F588-E3B0-1C4233490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65" y="1057777"/>
            <a:ext cx="6495973" cy="44965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27BA4C-8C6F-1B95-7B39-8C2CDF9E4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4325" y="1066418"/>
            <a:ext cx="34290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PROJECT INFORMATION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1BACA9A-5355-FE7A-76DB-E18B7D096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4325" y="2649641"/>
            <a:ext cx="3429000" cy="1066800"/>
          </a:xfrm>
        </p:spPr>
        <p:txBody>
          <a:bodyPr/>
          <a:lstStyle/>
          <a:p>
            <a:r>
              <a:rPr lang="en-US" dirty="0"/>
              <a:t>Ensure to select/deselect each of the following features for this demo before finishing the Project Wizard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B748C-BCA9-B497-34B0-014E46F62C80}"/>
              </a:ext>
            </a:extLst>
          </p:cNvPr>
          <p:cNvSpPr/>
          <p:nvPr/>
        </p:nvSpPr>
        <p:spPr>
          <a:xfrm flipH="1">
            <a:off x="962164" y="2438017"/>
            <a:ext cx="4689691" cy="2563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57C2E8-589D-C543-363A-D4309BF90E93}"/>
              </a:ext>
            </a:extLst>
          </p:cNvPr>
          <p:cNvSpPr/>
          <p:nvPr/>
        </p:nvSpPr>
        <p:spPr>
          <a:xfrm flipH="1">
            <a:off x="949106" y="2927281"/>
            <a:ext cx="4689693" cy="258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F06B9-2493-4238-FA75-93D1492BEAB0}"/>
              </a:ext>
            </a:extLst>
          </p:cNvPr>
          <p:cNvSpPr/>
          <p:nvPr/>
        </p:nvSpPr>
        <p:spPr>
          <a:xfrm flipH="1">
            <a:off x="949108" y="3197122"/>
            <a:ext cx="1336891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314176-FE1D-2338-6344-196C2318BD9B}"/>
              </a:ext>
            </a:extLst>
          </p:cNvPr>
          <p:cNvSpPr/>
          <p:nvPr/>
        </p:nvSpPr>
        <p:spPr>
          <a:xfrm flipH="1">
            <a:off x="949107" y="3418481"/>
            <a:ext cx="1870292" cy="178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E7DCF7A-C2C9-19E2-8808-D6889904D597}"/>
              </a:ext>
            </a:extLst>
          </p:cNvPr>
          <p:cNvSpPr/>
          <p:nvPr/>
        </p:nvSpPr>
        <p:spPr>
          <a:xfrm rot="10800000">
            <a:off x="5796859" y="2461596"/>
            <a:ext cx="560766" cy="209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4505C7-90DA-78B2-5795-9602268825E7}"/>
              </a:ext>
            </a:extLst>
          </p:cNvPr>
          <p:cNvSpPr txBox="1"/>
          <p:nvPr/>
        </p:nvSpPr>
        <p:spPr>
          <a:xfrm>
            <a:off x="6425167" y="2243026"/>
            <a:ext cx="540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F33B7-B554-E35C-269D-2A3B7448091A}"/>
              </a:ext>
            </a:extLst>
          </p:cNvPr>
          <p:cNvSpPr txBox="1"/>
          <p:nvPr/>
        </p:nvSpPr>
        <p:spPr>
          <a:xfrm>
            <a:off x="6431695" y="2733259"/>
            <a:ext cx="540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37E6C2-9C9D-4ABB-C40A-58CAE612103D}"/>
              </a:ext>
            </a:extLst>
          </p:cNvPr>
          <p:cNvSpPr txBox="1"/>
          <p:nvPr/>
        </p:nvSpPr>
        <p:spPr>
          <a:xfrm>
            <a:off x="3289281" y="3356584"/>
            <a:ext cx="540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C416DEA-9F81-BB1D-939F-81FEC0104921}"/>
              </a:ext>
            </a:extLst>
          </p:cNvPr>
          <p:cNvSpPr/>
          <p:nvPr/>
        </p:nvSpPr>
        <p:spPr>
          <a:xfrm rot="10800000">
            <a:off x="2910133" y="3249491"/>
            <a:ext cx="351932" cy="148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441BBB-A5B1-E780-C80A-EE1F77F8F4A3}"/>
              </a:ext>
            </a:extLst>
          </p:cNvPr>
          <p:cNvSpPr txBox="1"/>
          <p:nvPr/>
        </p:nvSpPr>
        <p:spPr>
          <a:xfrm>
            <a:off x="3291286" y="3122798"/>
            <a:ext cx="379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C5FBECF-B40B-6C89-BAA2-27161CC871F6}"/>
              </a:ext>
            </a:extLst>
          </p:cNvPr>
          <p:cNvSpPr/>
          <p:nvPr/>
        </p:nvSpPr>
        <p:spPr>
          <a:xfrm rot="2980916">
            <a:off x="6374679" y="4850499"/>
            <a:ext cx="35193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E69B70-9299-A6E7-4E39-3A895CD15474}"/>
              </a:ext>
            </a:extLst>
          </p:cNvPr>
          <p:cNvSpPr txBox="1"/>
          <p:nvPr/>
        </p:nvSpPr>
        <p:spPr>
          <a:xfrm>
            <a:off x="6010496" y="4227027"/>
            <a:ext cx="540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5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C2C84FE-F2FF-0F24-B387-8ED7E691541C}"/>
              </a:ext>
            </a:extLst>
          </p:cNvPr>
          <p:cNvSpPr/>
          <p:nvPr/>
        </p:nvSpPr>
        <p:spPr>
          <a:xfrm rot="10800000">
            <a:off x="5792087" y="2931292"/>
            <a:ext cx="560766" cy="209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6BB23F3-4623-35E5-876F-72F69783CD5C}"/>
              </a:ext>
            </a:extLst>
          </p:cNvPr>
          <p:cNvSpPr/>
          <p:nvPr/>
        </p:nvSpPr>
        <p:spPr>
          <a:xfrm rot="10800000">
            <a:off x="2910133" y="3460136"/>
            <a:ext cx="351932" cy="148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7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A3231-EE07-F92F-E8A8-2F78781C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400"/>
            <a:ext cx="10515600" cy="549274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(CREATION WALKTHRU VIDEO)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AD95C592-018B-AB16-9594-50E8B38D66EC}"/>
              </a:ext>
            </a:extLst>
          </p:cNvPr>
          <p:cNvSpPr/>
          <p:nvPr/>
        </p:nvSpPr>
        <p:spPr>
          <a:xfrm rot="1096321">
            <a:off x="8910628" y="5156225"/>
            <a:ext cx="1905000" cy="762000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0000"/>
              </a:solidFill>
            </a:endParaRPr>
          </a:p>
        </p:txBody>
      </p:sp>
      <p:pic>
        <p:nvPicPr>
          <p:cNvPr id="7" name="PROG1342A - HelloWorld Demo (2026)">
            <a:hlinkClick r:id="" action="ppaction://media"/>
            <a:extLst>
              <a:ext uri="{FF2B5EF4-FFF2-40B4-BE49-F238E27FC236}">
                <a16:creationId xmlns:a16="http://schemas.microsoft.com/office/drawing/2014/main" id="{B5CACF3F-F807-BB1C-FC38-31DA253B013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0408" y="701674"/>
            <a:ext cx="10231182" cy="5754910"/>
          </a:xfrm>
        </p:spPr>
      </p:pic>
    </p:spTree>
    <p:extLst>
      <p:ext uri="{BB962C8B-B14F-4D97-AF65-F5344CB8AC3E}">
        <p14:creationId xmlns:p14="http://schemas.microsoft.com/office/powerpoint/2010/main" val="119472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1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816FEB-53D9-B276-F1A2-834264D0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13848"/>
            <a:ext cx="5760278" cy="5629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13103D-200C-5B9B-902F-F521219B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31" y="409575"/>
            <a:ext cx="5501969" cy="5629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5C3C2C-55A0-24B9-287F-51901CA34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63" y="413848"/>
            <a:ext cx="5760278" cy="5589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DD8439-0B8D-B1A3-AEE8-0E7EE7EAB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494" y="443927"/>
            <a:ext cx="5791416" cy="5553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AA3231-EE07-F92F-E8A8-2F78781C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0" y="409575"/>
            <a:ext cx="3429000" cy="1143000"/>
          </a:xfrm>
        </p:spPr>
        <p:txBody>
          <a:bodyPr anchor="b">
            <a:normAutofit/>
          </a:bodyPr>
          <a:lstStyle/>
          <a:p>
            <a:r>
              <a:rPr lang="en-US" dirty="0"/>
              <a:t>PROJECT STRUCTURE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1D1960-46E4-9B83-FED3-E93AF47EC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27641" y="1600200"/>
            <a:ext cx="3429000" cy="1828800"/>
          </a:xfrm>
        </p:spPr>
        <p:txBody>
          <a:bodyPr/>
          <a:lstStyle/>
          <a:p>
            <a:r>
              <a:rPr lang="en-US" dirty="0"/>
              <a:t>You will note that we have several areas that are named to match our chosen  Design/Implementation pattern of </a:t>
            </a:r>
            <a:r>
              <a:rPr lang="en-US" b="1" dirty="0"/>
              <a:t>MVC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0AE38C0-65C5-CA26-FC48-C7A688E75FFE}"/>
              </a:ext>
            </a:extLst>
          </p:cNvPr>
          <p:cNvSpPr/>
          <p:nvPr/>
        </p:nvSpPr>
        <p:spPr>
          <a:xfrm rot="10800000">
            <a:off x="2362200" y="2819400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6">
            <a:extLst>
              <a:ext uri="{FF2B5EF4-FFF2-40B4-BE49-F238E27FC236}">
                <a16:creationId xmlns:a16="http://schemas.microsoft.com/office/drawing/2014/main" id="{8ECDD92C-D1F9-DE0C-3DE3-676CEE566495}"/>
              </a:ext>
            </a:extLst>
          </p:cNvPr>
          <p:cNvSpPr/>
          <p:nvPr/>
        </p:nvSpPr>
        <p:spPr>
          <a:xfrm rot="10800000">
            <a:off x="2354180" y="3102110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6">
            <a:extLst>
              <a:ext uri="{FF2B5EF4-FFF2-40B4-BE49-F238E27FC236}">
                <a16:creationId xmlns:a16="http://schemas.microsoft.com/office/drawing/2014/main" id="{675631FB-5FAD-CB9C-A4A4-CCA9CAAAD2F2}"/>
              </a:ext>
            </a:extLst>
          </p:cNvPr>
          <p:cNvSpPr/>
          <p:nvPr/>
        </p:nvSpPr>
        <p:spPr>
          <a:xfrm rot="10800000">
            <a:off x="2354181" y="3406911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0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A3231-EE07-F92F-E8A8-2F78781C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890274"/>
            <a:ext cx="3429000" cy="1447800"/>
          </a:xfrm>
        </p:spPr>
        <p:txBody>
          <a:bodyPr anchor="b">
            <a:normAutofit/>
          </a:bodyPr>
          <a:lstStyle/>
          <a:p>
            <a:r>
              <a:rPr lang="en-US" sz="3100" dirty="0"/>
              <a:t>FIRST STEPS – LET’S GO BACK TO BASICS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E92C0-90EF-FC8D-21A8-44BE2D87A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1" y="555459"/>
            <a:ext cx="3810000" cy="5257800"/>
          </a:xfr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1494383-2839-FB71-97F4-C064BAB86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18058" y="2541212"/>
            <a:ext cx="4191000" cy="1828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are going to remove 2 elements that were Scaffolded (auto-generated) for us before we continue: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 file </a:t>
            </a:r>
            <a:r>
              <a:rPr lang="en-US" b="1" dirty="0">
                <a:solidFill>
                  <a:srgbClr val="FF0000"/>
                </a:solidFill>
              </a:rPr>
              <a:t>Controllers/HomeController.cs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folder </a:t>
            </a:r>
            <a:r>
              <a:rPr lang="en-US" b="1" dirty="0">
                <a:solidFill>
                  <a:srgbClr val="FF0000"/>
                </a:solidFill>
              </a:rPr>
              <a:t>Views/Home </a:t>
            </a:r>
            <a:r>
              <a:rPr lang="en-US" dirty="0"/>
              <a:t>(and all of its contents)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C6604-3F7A-3D1E-779C-8C0292405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533400"/>
            <a:ext cx="3810000" cy="5564175"/>
          </a:xfrm>
          <a:prstGeom prst="rect">
            <a:avLst/>
          </a:prstGeom>
        </p:spPr>
      </p:pic>
      <p:sp>
        <p:nvSpPr>
          <p:cNvPr id="6" name="Right Arrow 6">
            <a:extLst>
              <a:ext uri="{FF2B5EF4-FFF2-40B4-BE49-F238E27FC236}">
                <a16:creationId xmlns:a16="http://schemas.microsoft.com/office/drawing/2014/main" id="{B055F3F9-650A-B126-C485-789CEDA3DE0C}"/>
              </a:ext>
            </a:extLst>
          </p:cNvPr>
          <p:cNvSpPr/>
          <p:nvPr/>
        </p:nvSpPr>
        <p:spPr>
          <a:xfrm rot="10800000">
            <a:off x="4290266" y="4038600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0317754-A4AA-5829-14F6-2C784A391465}"/>
              </a:ext>
            </a:extLst>
          </p:cNvPr>
          <p:cNvSpPr/>
          <p:nvPr/>
        </p:nvSpPr>
        <p:spPr>
          <a:xfrm rot="10800000">
            <a:off x="4343401" y="2527175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6">
            <a:extLst>
              <a:ext uri="{FF2B5EF4-FFF2-40B4-BE49-F238E27FC236}">
                <a16:creationId xmlns:a16="http://schemas.microsoft.com/office/drawing/2014/main" id="{3A344BAD-E920-A28D-9C8E-34E92ECD1951}"/>
              </a:ext>
            </a:extLst>
          </p:cNvPr>
          <p:cNvSpPr/>
          <p:nvPr/>
        </p:nvSpPr>
        <p:spPr>
          <a:xfrm rot="10800000">
            <a:off x="4343401" y="3119149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2C5E82-BF2D-4C2F-A5A2-C11FB8ACB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371600"/>
            <a:ext cx="3048000" cy="4851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B72D88-89A2-7348-97E1-07C1F4C66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80" y="559470"/>
            <a:ext cx="3826920" cy="555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0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734B77-073F-99EC-E473-FB0837D08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1295401"/>
            <a:ext cx="2362200" cy="37599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8EE7D5-B8F8-F5F6-5CFF-33F6D7925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8651" y="785084"/>
            <a:ext cx="5003703" cy="4578389"/>
          </a:xfr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01A593-D276-6B87-8DB3-709FEF022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5" y="670783"/>
            <a:ext cx="5035214" cy="4806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DD4883-7EB3-62EB-DAEF-F0AB7B361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575" y="7189"/>
            <a:ext cx="5134779" cy="647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AA3231-EE07-F92F-E8A8-2F78781C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304800"/>
            <a:ext cx="3429000" cy="1905000"/>
          </a:xfrm>
        </p:spPr>
        <p:txBody>
          <a:bodyPr anchor="b">
            <a:normAutofit/>
          </a:bodyPr>
          <a:lstStyle/>
          <a:p>
            <a:r>
              <a:rPr lang="en-US" dirty="0"/>
              <a:t>ADDING A NEW CONTROLLER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7F4B768-8752-424B-403D-66930E5E5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58225" y="2514600"/>
            <a:ext cx="3886200" cy="1828800"/>
          </a:xfrm>
        </p:spPr>
        <p:txBody>
          <a:bodyPr/>
          <a:lstStyle/>
          <a:p>
            <a:r>
              <a:rPr lang="en-US" dirty="0"/>
              <a:t>Right-click on your </a:t>
            </a:r>
            <a:r>
              <a:rPr lang="en-US" b="1" dirty="0"/>
              <a:t>Controllers</a:t>
            </a:r>
            <a:r>
              <a:rPr lang="en-US" dirty="0"/>
              <a:t> folder</a:t>
            </a:r>
          </a:p>
          <a:p>
            <a:r>
              <a:rPr lang="en-US" b="1" dirty="0"/>
              <a:t>ADD</a:t>
            </a:r>
            <a:r>
              <a:rPr lang="en-US" dirty="0"/>
              <a:t> ▶ </a:t>
            </a:r>
            <a:r>
              <a:rPr lang="en-US" b="1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187221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D4A3817-7877-86E3-B488-9413A861D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488" y="458725"/>
            <a:ext cx="3102112" cy="1141475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CHOOSE CONTROLLER OPTIONS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416D9D-4FAE-0415-824D-EFA1EC71D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457200"/>
            <a:ext cx="8556488" cy="5903975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B489165-4A09-35DD-693A-B4D5EC86E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47013" y="2057400"/>
            <a:ext cx="3102112" cy="1828800"/>
          </a:xfrm>
        </p:spPr>
        <p:txBody>
          <a:bodyPr/>
          <a:lstStyle/>
          <a:p>
            <a:r>
              <a:rPr lang="en-US" dirty="0"/>
              <a:t>Choose an Empty MVC Controller, so we can provide our own content upon creation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0B2524-4F90-7E5A-EA73-6C6C9598F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9" y="482449"/>
            <a:ext cx="8555050" cy="591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0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2D87-4EDA-7890-DF10-AB962C1D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8734" y="796255"/>
            <a:ext cx="3667066" cy="803946"/>
          </a:xfrm>
        </p:spPr>
        <p:txBody>
          <a:bodyPr>
            <a:noAutofit/>
          </a:bodyPr>
          <a:lstStyle/>
          <a:p>
            <a:r>
              <a:rPr lang="en-US" sz="2400" dirty="0"/>
              <a:t>CREATING THE </a:t>
            </a:r>
            <a:r>
              <a:rPr lang="en-US" sz="2400" b="1" dirty="0">
                <a:solidFill>
                  <a:srgbClr val="FFC000"/>
                </a:solidFill>
              </a:rPr>
              <a:t>HelloWorldController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DBF347-C630-FE30-7A76-29E5F3767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266" y="792407"/>
            <a:ext cx="7610534" cy="527318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18048-8752-C505-0DDD-986FF802F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8734" y="2285999"/>
            <a:ext cx="3429000" cy="3775745"/>
          </a:xfrm>
        </p:spPr>
        <p:txBody>
          <a:bodyPr>
            <a:normAutofit/>
          </a:bodyPr>
          <a:lstStyle/>
          <a:p>
            <a:r>
              <a:rPr lang="en-US" dirty="0"/>
              <a:t>Modify the default name of the Controller as required.</a:t>
            </a:r>
          </a:p>
          <a:p>
            <a:endParaRPr lang="en-US" dirty="0"/>
          </a:p>
          <a:p>
            <a:r>
              <a:rPr lang="en-US" dirty="0"/>
              <a:t>All Controllers must end their names with </a:t>
            </a:r>
            <a:r>
              <a:rPr lang="en-US" b="1" dirty="0">
                <a:solidFill>
                  <a:srgbClr val="FF0000"/>
                </a:solidFill>
              </a:rPr>
              <a:t>Controller</a:t>
            </a:r>
            <a:r>
              <a:rPr lang="en-US" dirty="0"/>
              <a:t>, so do not remove this portion of the name.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HelloWorld</a:t>
            </a:r>
            <a:r>
              <a:rPr lang="en-US" dirty="0">
                <a:solidFill>
                  <a:srgbClr val="FF0000"/>
                </a:solidFill>
              </a:rPr>
              <a:t>Controller</a:t>
            </a:r>
          </a:p>
          <a:p>
            <a:pPr marL="285750" indent="-285750">
              <a:buFontTx/>
              <a:buChar char="-"/>
            </a:pPr>
            <a:r>
              <a:rPr lang="en-US" dirty="0"/>
              <a:t>Avatar</a:t>
            </a:r>
            <a:r>
              <a:rPr lang="en-US" dirty="0">
                <a:solidFill>
                  <a:srgbClr val="FF0000"/>
                </a:solidFill>
              </a:rPr>
              <a:t>Controller</a:t>
            </a:r>
          </a:p>
          <a:p>
            <a:pPr marL="285750" indent="-285750">
              <a:buFontTx/>
              <a:buChar char="-"/>
            </a:pPr>
            <a:r>
              <a:rPr lang="en-US" dirty="0"/>
              <a:t>WorldDomination</a:t>
            </a:r>
            <a:r>
              <a:rPr lang="en-US" dirty="0">
                <a:solidFill>
                  <a:srgbClr val="FF0000"/>
                </a:solidFill>
              </a:rPr>
              <a:t>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C1561-D1E9-ED48-CA02-F3992318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98" y="671813"/>
            <a:ext cx="7767115" cy="538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8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FEDB-0558-423A-5083-E6340FC0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212058"/>
            <a:ext cx="9067800" cy="685800"/>
          </a:xfrm>
        </p:spPr>
        <p:txBody>
          <a:bodyPr anchor="b">
            <a:normAutofit/>
          </a:bodyPr>
          <a:lstStyle/>
          <a:p>
            <a:r>
              <a:rPr lang="en-US" dirty="0"/>
              <a:t>MODIFY DEFAULT IMPLEMENTATION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D3CEAE-C4DE-0208-F8BB-23401C4FA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86" y="1279016"/>
            <a:ext cx="8229601" cy="4299967"/>
          </a:xfrm>
          <a:prstGeom prst="rect">
            <a:avLst/>
          </a:prstGeom>
          <a:noFill/>
        </p:spPr>
      </p:pic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365A6B7E-9FE7-7E4F-2933-2190CCF53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81199" y="5943600"/>
            <a:ext cx="8229601" cy="4720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Implement the methods as shown, with these specific return types.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A4052-F75B-E210-12D9-F81B92E6D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586" y="1314893"/>
            <a:ext cx="8229601" cy="4407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A18893-7A0D-54F9-B016-137A4E00B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1314893"/>
            <a:ext cx="4753638" cy="571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4D7243-B92E-7C6F-CFED-A78D9DDDB3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813" y="1283552"/>
            <a:ext cx="8236374" cy="45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284EF70-A1E7-5E5F-E357-E5D8AA46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381000"/>
            <a:ext cx="6629400" cy="609600"/>
          </a:xfrm>
        </p:spPr>
        <p:txBody>
          <a:bodyPr/>
          <a:lstStyle/>
          <a:p>
            <a:r>
              <a:rPr lang="en-US" dirty="0"/>
              <a:t>Running your ASP.NET Project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50FB65B-481E-520F-2743-4867AEB4D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5271" y="3333750"/>
            <a:ext cx="7481457" cy="3086100"/>
          </a:xfrm>
          <a:noFill/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993F964-936C-D42D-4602-95881EE92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7700" y="1238250"/>
            <a:ext cx="10896600" cy="182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Launching your ASP.NET website can be as simple as selecting Debug / Run.  However, if you select 🔽 you will be prompted with many more options for custom execution, which include: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Web Browser default</a:t>
            </a:r>
          </a:p>
          <a:p>
            <a:pPr marL="285750" indent="-285750">
              <a:buFontTx/>
              <a:buChar char="-"/>
            </a:pPr>
            <a:r>
              <a:rPr lang="en-US" dirty="0"/>
              <a:t>Execution Environment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+ more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562557-2E02-1701-C41D-8A79D0688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12695"/>
            <a:ext cx="10089286" cy="31216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D1EF76-007A-4B55-2D2C-84B126E45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32" y="3924263"/>
            <a:ext cx="1457528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6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932C-2E64-44BE-7802-555C3077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52400"/>
            <a:ext cx="9525000" cy="695499"/>
          </a:xfrm>
        </p:spPr>
        <p:txBody>
          <a:bodyPr/>
          <a:lstStyle/>
          <a:p>
            <a:pPr algn="ctr"/>
            <a:r>
              <a:rPr lang="en-US" dirty="0"/>
              <a:t>Launching our Current Project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5A7673-D1D1-C907-D7FD-51D266D4E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500" y="1676400"/>
            <a:ext cx="7772400" cy="425306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4FA61-4893-5DED-812B-1C66EA873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44225" y="6011407"/>
            <a:ext cx="4000500" cy="45720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hlinkClick r:id="rId3"/>
              </a:rPr>
              <a:t>http://localhost:5167/HelloWorld</a:t>
            </a:r>
            <a:endParaRPr lang="en-US" dirty="0"/>
          </a:p>
          <a:p>
            <a:r>
              <a:rPr lang="en-US" dirty="0">
                <a:hlinkClick r:id="rId4"/>
              </a:rPr>
              <a:t>http://localhost:5167/HelloWorld/Welcome</a:t>
            </a:r>
            <a:endParaRPr lang="en-US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E6447F8-E33D-A22B-F70B-878961B4905B}"/>
              </a:ext>
            </a:extLst>
          </p:cNvPr>
          <p:cNvSpPr/>
          <p:nvPr/>
        </p:nvSpPr>
        <p:spPr>
          <a:xfrm>
            <a:off x="114300" y="674363"/>
            <a:ext cx="2209800" cy="838200"/>
          </a:xfrm>
          <a:prstGeom prst="wedgeRoundRectCallout">
            <a:avLst>
              <a:gd name="adj1" fmla="val 35048"/>
              <a:gd name="adj2" fmla="val 1104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HOUSTON, WE HAVE A PROBLEM 🚀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27412E3B-DFEA-99E5-C5A2-7BE155E79322}"/>
              </a:ext>
            </a:extLst>
          </p:cNvPr>
          <p:cNvSpPr/>
          <p:nvPr/>
        </p:nvSpPr>
        <p:spPr>
          <a:xfrm>
            <a:off x="4953000" y="4686300"/>
            <a:ext cx="3061175" cy="990600"/>
          </a:xfrm>
          <a:prstGeom prst="wedgeRoundRectCallout">
            <a:avLst>
              <a:gd name="adj1" fmla="val -68672"/>
              <a:gd name="adj2" fmla="val 1007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FYI – These Port numbers are randomly generated for each separate project – so ensure to use the correct ones for your current project</a:t>
            </a:r>
          </a:p>
        </p:txBody>
      </p:sp>
    </p:spTree>
    <p:extLst>
      <p:ext uri="{BB962C8B-B14F-4D97-AF65-F5344CB8AC3E}">
        <p14:creationId xmlns:p14="http://schemas.microsoft.com/office/powerpoint/2010/main" val="67298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7780-31BE-DF16-CCB3-0DF3B5A9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 anchor="b">
            <a:normAutofit/>
          </a:bodyPr>
          <a:lstStyle/>
          <a:p>
            <a:r>
              <a:rPr lang="en-US" dirty="0"/>
              <a:t>The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C02EE-1FE8-8904-8EE8-8147F4A4C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CA" sz="1900" dirty="0"/>
              <a:t>ASP.Net project that use MVC invoke different controller classes and different actions within them </a:t>
            </a:r>
            <a:r>
              <a:rPr lang="en-CA" sz="1900" b="1" u="sng" dirty="0"/>
              <a:t>based upon the incoming url</a:t>
            </a:r>
          </a:p>
          <a:p>
            <a:r>
              <a:rPr lang="en-CA" sz="1900" dirty="0"/>
              <a:t>The default mapping logic uses the following format to determine what code to invoke:</a:t>
            </a:r>
          </a:p>
          <a:p>
            <a:r>
              <a:rPr lang="en-CA" sz="1900" dirty="0"/>
              <a:t>/[</a:t>
            </a:r>
            <a:r>
              <a:rPr lang="en-CA" sz="1900" b="1" dirty="0">
                <a:solidFill>
                  <a:srgbClr val="FFC000"/>
                </a:solidFill>
              </a:rPr>
              <a:t>Controller</a:t>
            </a:r>
            <a:r>
              <a:rPr lang="en-CA" sz="1900" dirty="0"/>
              <a:t>]/[</a:t>
            </a:r>
            <a:r>
              <a:rPr lang="en-CA" sz="1900" b="1" dirty="0">
                <a:solidFill>
                  <a:srgbClr val="92D050"/>
                </a:solidFill>
              </a:rPr>
              <a:t>ActionName</a:t>
            </a:r>
            <a:r>
              <a:rPr lang="en-CA" sz="1900" dirty="0"/>
              <a:t>]/[</a:t>
            </a:r>
            <a:r>
              <a:rPr lang="en-CA" sz="1900" b="1" dirty="0">
                <a:solidFill>
                  <a:srgbClr val="00B0F0"/>
                </a:solidFill>
              </a:rPr>
              <a:t>Parameters</a:t>
            </a:r>
            <a:r>
              <a:rPr lang="en-CA" sz="1900" dirty="0"/>
              <a:t>]</a:t>
            </a:r>
          </a:p>
          <a:p>
            <a:pPr lvl="1"/>
            <a:r>
              <a:rPr lang="en-US" sz="1900" dirty="0"/>
              <a:t>You view/modify the format for routing within </a:t>
            </a:r>
            <a:r>
              <a:rPr lang="en-US" sz="1900" b="1" i="1" dirty="0">
                <a:solidFill>
                  <a:srgbClr val="FFC000"/>
                </a:solidFill>
              </a:rPr>
              <a:t>Program.cs</a:t>
            </a:r>
            <a:endParaRPr lang="en-CA" sz="1900" b="1" dirty="0">
              <a:solidFill>
                <a:srgbClr val="FFC000"/>
              </a:solidFill>
            </a:endParaRPr>
          </a:p>
          <a:p>
            <a:r>
              <a:rPr lang="en-CA" sz="1900" dirty="0"/>
              <a:t>The first part of the url determines the controller and the second part determines the action.  </a:t>
            </a:r>
          </a:p>
          <a:p>
            <a:pPr lvl="1"/>
            <a:r>
              <a:rPr lang="en-CA" sz="1900" dirty="0"/>
              <a:t>Notice that we only have to browse to /HelloWorld and the Index method was used by default. </a:t>
            </a:r>
          </a:p>
          <a:p>
            <a:pPr lvl="1"/>
            <a:r>
              <a:rPr lang="en-CA" sz="1900" dirty="0"/>
              <a:t>This is because a method named Index is the default method(action) that will be called on a controller </a:t>
            </a:r>
            <a:r>
              <a:rPr lang="en-CA" sz="1900" b="1" dirty="0"/>
              <a:t>if one is not explicitly specified</a:t>
            </a:r>
            <a:endParaRPr lang="en-US" sz="1900" b="1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39983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C59FB0-9373-25A9-2574-323ECF74B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381000"/>
            <a:ext cx="7049029" cy="537327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1DD1AE-75D9-41F0-CADF-FE19E03DE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407068"/>
            <a:ext cx="7054908" cy="563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266DCA-7E55-F8B5-9C38-A8450A0C3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04" y="407068"/>
            <a:ext cx="2508220" cy="369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E318A1-096F-0686-F56F-A82E9DE2D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25" y="394034"/>
            <a:ext cx="6523169" cy="563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BD3960-0C1C-A0FD-ABAF-082F4A2F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875127"/>
            <a:ext cx="3429000" cy="8382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ASP.NET PROJECT CONFIGURATION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D2037-3376-AF82-4BD5-674124FD5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24800" y="1981199"/>
            <a:ext cx="3733800" cy="37730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Program.cs</a:t>
            </a:r>
            <a:r>
              <a:rPr lang="en-US" dirty="0"/>
              <a:t> is used by an ASP.NET project to choose the separate components and services that the server will utilize.  </a:t>
            </a:r>
            <a:r>
              <a:rPr lang="en-US" u="sng" dirty="0"/>
              <a:t>We will be making changes to the default implementation(s) as we make more complex projects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also contains configuration information about on the mapping of URLs to Controllers/Actions (and provides defaults)</a:t>
            </a:r>
          </a:p>
          <a:p>
            <a:endParaRPr lang="en-US" dirty="0"/>
          </a:p>
          <a:p>
            <a:r>
              <a:rPr lang="en-US" dirty="0">
                <a:solidFill>
                  <a:srgbClr val="FFC000"/>
                </a:solidFill>
              </a:rPr>
              <a:t>NOTE: This area will have different initial styling/configuration depending on the options you choose when creating your ASP.NET Project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72D6333-6008-3057-6DAB-EF878E75D718}"/>
              </a:ext>
            </a:extLst>
          </p:cNvPr>
          <p:cNvSpPr/>
          <p:nvPr/>
        </p:nvSpPr>
        <p:spPr>
          <a:xfrm>
            <a:off x="5635861" y="4572000"/>
            <a:ext cx="152400" cy="685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81E2A-0637-D6EA-6C15-1750081DE6B5}"/>
              </a:ext>
            </a:extLst>
          </p:cNvPr>
          <p:cNvSpPr txBox="1"/>
          <p:nvPr/>
        </p:nvSpPr>
        <p:spPr>
          <a:xfrm>
            <a:off x="5870341" y="457200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2D050"/>
                </a:solidFill>
              </a:rPr>
              <a:t>Default Project Routing</a:t>
            </a:r>
          </a:p>
        </p:txBody>
      </p:sp>
    </p:spTree>
    <p:extLst>
      <p:ext uri="{BB962C8B-B14F-4D97-AF65-F5344CB8AC3E}">
        <p14:creationId xmlns:p14="http://schemas.microsoft.com/office/powerpoint/2010/main" val="376273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D086FA6-96DA-16CC-A806-0BFC3FCBD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4038600"/>
            <a:ext cx="4627085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FA490-99F7-1B18-C5C7-B26574FA9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052" y="3862697"/>
            <a:ext cx="4787033" cy="24619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26AC7-E29F-6B12-2E56-E9218AE6D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0" y="304800"/>
            <a:ext cx="5878710" cy="685800"/>
          </a:xfrm>
        </p:spPr>
        <p:txBody>
          <a:bodyPr/>
          <a:lstStyle/>
          <a:p>
            <a:r>
              <a:rPr lang="en-US" dirty="0"/>
              <a:t>Reviewing the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F136C-D5DD-90DA-0AF9-67153D1DA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1219200"/>
            <a:ext cx="5562600" cy="2590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Once we navigate to the correct URLs of our Controllers/Actions, we see the results that we crafted – but perhaps not in the expected format.</a:t>
            </a:r>
          </a:p>
          <a:p>
            <a:endParaRPr lang="en-US" dirty="0"/>
          </a:p>
          <a:p>
            <a:r>
              <a:rPr lang="en-US" dirty="0"/>
              <a:t>Web Servers can host and provide many types of content : Images, Video, XML/HTML – as well as straightforward text.</a:t>
            </a:r>
          </a:p>
          <a:p>
            <a:endParaRPr lang="en-US" dirty="0"/>
          </a:p>
          <a:p>
            <a:r>
              <a:rPr lang="en-US" dirty="0"/>
              <a:t>Our results are being interpreted as straightforward text due to returning raw strings.  We will have to tweak our Controller action(s) to return content that will identify as X/HTML: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A0A7F1-8261-32ED-CB22-271710DFE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89" y="3429000"/>
            <a:ext cx="4842891" cy="2895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EC3FD0-ADE8-9D52-7414-7DA7BE4FD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90" y="304800"/>
            <a:ext cx="4842891" cy="2895600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F1B92F6-0238-5F67-F750-6DDBF30FE3F8}"/>
              </a:ext>
            </a:extLst>
          </p:cNvPr>
          <p:cNvSpPr/>
          <p:nvPr/>
        </p:nvSpPr>
        <p:spPr>
          <a:xfrm rot="10800000" flipV="1">
            <a:off x="10506075" y="5575132"/>
            <a:ext cx="304800" cy="1398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D8DBEC-259B-6C1C-15F2-972CCC81EC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057" y="3862697"/>
            <a:ext cx="2139143" cy="257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DF9A3E-448F-A89B-B6F3-9AFA4A44D0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7052" y="3859353"/>
            <a:ext cx="3969948" cy="2470356"/>
          </a:xfrm>
          <a:prstGeom prst="rect">
            <a:avLst/>
          </a:prstGeom>
        </p:spPr>
      </p:pic>
      <p:sp>
        <p:nvSpPr>
          <p:cNvPr id="15" name="Right Brace 14">
            <a:extLst>
              <a:ext uri="{FF2B5EF4-FFF2-40B4-BE49-F238E27FC236}">
                <a16:creationId xmlns:a16="http://schemas.microsoft.com/office/drawing/2014/main" id="{C4C0E1FE-DE75-8B36-06FF-55BDCF9C67D9}"/>
              </a:ext>
            </a:extLst>
          </p:cNvPr>
          <p:cNvSpPr/>
          <p:nvPr/>
        </p:nvSpPr>
        <p:spPr>
          <a:xfrm>
            <a:off x="10212865" y="5257800"/>
            <a:ext cx="152400" cy="762000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411CC15-AFE6-7211-FD09-F432479E3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1674"/>
          </a:xfrm>
        </p:spPr>
        <p:txBody>
          <a:bodyPr anchor="b">
            <a:normAutofit/>
          </a:bodyPr>
          <a:lstStyle/>
          <a:p>
            <a:r>
              <a:rPr lang="en-US" dirty="0"/>
              <a:t>Using Parameters in Controller Actions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A371A5B2-D365-4796-EA2F-7330E4127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1800" y="2286000"/>
            <a:ext cx="5029200" cy="1379434"/>
          </a:xfrm>
        </p:spPr>
        <p:txBody>
          <a:bodyPr/>
          <a:lstStyle/>
          <a:p>
            <a:r>
              <a:rPr lang="en-US" dirty="0"/>
              <a:t>Modify the Welcome() method to add parameters to the method signature as well as create dynamic content.</a:t>
            </a:r>
          </a:p>
          <a:p>
            <a:pPr lvl="1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F9FEE-F7D2-B874-A52E-CAAF53AC78C4}"/>
              </a:ext>
            </a:extLst>
          </p:cNvPr>
          <p:cNvSpPr txBox="1"/>
          <p:nvPr/>
        </p:nvSpPr>
        <p:spPr>
          <a:xfrm>
            <a:off x="838200" y="544015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complete, run the project and use this URL:</a:t>
            </a:r>
          </a:p>
          <a:p>
            <a:pPr lvl="1"/>
            <a:r>
              <a:rPr lang="en-US" dirty="0">
                <a:hlinkClick r:id="rId2"/>
              </a:rPr>
              <a:t>http://localhost:xxxx/HelloWorld/Welcome?name=Johnny&amp;age=25/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541C90-700E-1DFD-55F8-81E64BBDD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0993"/>
            <a:ext cx="5939390" cy="34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2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3356-3B02-A9F4-7152-B871CEF2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F9636-D19D-2C53-4A2B-E2241C4DE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these small examples the controller has been doing the work of the </a:t>
            </a:r>
            <a:r>
              <a:rPr lang="en-CA" b="1" dirty="0"/>
              <a:t>view</a:t>
            </a:r>
            <a:r>
              <a:rPr lang="en-CA" dirty="0"/>
              <a:t> as well as the controller by returning html directly. </a:t>
            </a:r>
          </a:p>
          <a:p>
            <a:r>
              <a:rPr lang="en-CA" dirty="0"/>
              <a:t>Ordinarily you </a:t>
            </a:r>
            <a:r>
              <a:rPr lang="en-CA" b="1" dirty="0"/>
              <a:t>don’t</a:t>
            </a:r>
            <a:r>
              <a:rPr lang="en-CA" dirty="0"/>
              <a:t> want controllers returning HTML directly (it becomes too cumbersome to code), so next we will learn how to create a view template file to help us generate an appropriate html response.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85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3356-3B02-A9F4-7152-B871CEF2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Views with Razor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F9636-D19D-2C53-4A2B-E2241C4DE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Thru the history of ASP.NET</a:t>
            </a:r>
            <a:r>
              <a:rPr lang="en-CA" sz="2000" dirty="0"/>
              <a:t> in the .NET Framework, versions of ASP.Net MVC used web forms as the view engine, starting in ASP.Net MVC 3 we were able to use the new Razor view engine.</a:t>
            </a:r>
          </a:p>
          <a:p>
            <a:r>
              <a:rPr lang="en-CA" dirty="0"/>
              <a:t>ASP.NET Core have created a newer implementation of Razor, which leverages the original syntax as well as provides newer syntax to provide even more elegant View implementations.  We will be learning aspects of both.</a:t>
            </a:r>
            <a:endParaRPr lang="en-CA" sz="2000" dirty="0"/>
          </a:p>
          <a:p>
            <a:r>
              <a:rPr lang="en-CA" sz="2000" dirty="0"/>
              <a:t>Razor based view templates will have a .</a:t>
            </a:r>
            <a:r>
              <a:rPr lang="en-CA" sz="2000" b="1" dirty="0">
                <a:solidFill>
                  <a:srgbClr val="FFC000"/>
                </a:solidFill>
              </a:rPr>
              <a:t>cshtml</a:t>
            </a:r>
            <a:r>
              <a:rPr lang="en-CA" sz="2000" dirty="0"/>
              <a:t> file extension (when using </a:t>
            </a:r>
            <a:r>
              <a:rPr lang="en-CA" dirty="0"/>
              <a:t>C</a:t>
            </a:r>
            <a:r>
              <a:rPr lang="en-CA" sz="2000" dirty="0"/>
              <a:t>#) or .</a:t>
            </a:r>
            <a:r>
              <a:rPr lang="en-CA" sz="2000" b="1" dirty="0">
                <a:solidFill>
                  <a:srgbClr val="FFC000"/>
                </a:solidFill>
              </a:rPr>
              <a:t>vbhtml</a:t>
            </a:r>
            <a:r>
              <a:rPr lang="en-CA" sz="2000" dirty="0"/>
              <a:t> (when using VB) and provide an elegant way to create HTML output using either C# or VB. </a:t>
            </a:r>
          </a:p>
          <a:p>
            <a:r>
              <a:rPr lang="en-CA" sz="2000" dirty="0"/>
              <a:t>Razor minimizes the number of characters and keystrokes required when writing a view template, and enables a fast and fluid coding workflow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50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3356-3B02-A9F4-7152-B871CEF2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View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F9636-D19D-2C53-4A2B-E2241C4DE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>
            <a:normAutofit fontScale="77500" lnSpcReduction="20000"/>
          </a:bodyPr>
          <a:lstStyle/>
          <a:p>
            <a:r>
              <a:rPr lang="en-CA" sz="2000" dirty="0"/>
              <a:t>Let’s change the Index method of the HelloWorld controller to return a View object:</a:t>
            </a:r>
          </a:p>
          <a:p>
            <a:pPr lvl="1">
              <a:buNone/>
            </a:pPr>
            <a:r>
              <a:rPr lang="en-CA" sz="1800" dirty="0">
                <a:solidFill>
                  <a:srgbClr val="00B0F0"/>
                </a:solidFill>
              </a:rPr>
              <a:t>Public IActionResult Index()</a:t>
            </a:r>
          </a:p>
          <a:p>
            <a:pPr lvl="1">
              <a:buNone/>
            </a:pPr>
            <a:r>
              <a:rPr lang="en-CA" sz="1800" dirty="0">
                <a:solidFill>
                  <a:srgbClr val="00B0F0"/>
                </a:solidFill>
              </a:rPr>
              <a:t>{</a:t>
            </a:r>
          </a:p>
          <a:p>
            <a:pPr lvl="1">
              <a:buNone/>
            </a:pPr>
            <a:r>
              <a:rPr lang="en-CA" sz="1800" dirty="0">
                <a:solidFill>
                  <a:srgbClr val="00B0F0"/>
                </a:solidFill>
              </a:rPr>
              <a:t>  return View();</a:t>
            </a:r>
          </a:p>
          <a:p>
            <a:pPr lvl="1">
              <a:buNone/>
            </a:pPr>
            <a:r>
              <a:rPr lang="en-CA" sz="1800" dirty="0">
                <a:solidFill>
                  <a:srgbClr val="00B0F0"/>
                </a:solidFill>
              </a:rPr>
              <a:t>}</a:t>
            </a:r>
            <a:endParaRPr lang="en-CA" sz="1800" dirty="0">
              <a:solidFill>
                <a:srgbClr val="FF0000"/>
              </a:solidFill>
            </a:endParaRPr>
          </a:p>
          <a:p>
            <a:r>
              <a:rPr lang="en-CA" sz="2000" dirty="0"/>
              <a:t>This code uses a view to generate an HTML response to the browser. </a:t>
            </a:r>
          </a:p>
          <a:p>
            <a:r>
              <a:rPr lang="en-CA" sz="2000" dirty="0"/>
              <a:t>We will need to now add the required view: in the code window </a:t>
            </a:r>
            <a:r>
              <a:rPr lang="en-CA" sz="2000" b="1" dirty="0">
                <a:solidFill>
                  <a:srgbClr val="FF0000"/>
                </a:solidFill>
              </a:rPr>
              <a:t>right click the Index method</a:t>
            </a:r>
            <a:r>
              <a:rPr lang="en-CA" sz="2000" b="1" dirty="0"/>
              <a:t> </a:t>
            </a:r>
            <a:r>
              <a:rPr lang="en-CA" sz="2000" dirty="0"/>
              <a:t>and click ‘</a:t>
            </a:r>
            <a:r>
              <a:rPr lang="en-CA" sz="2000" b="1" dirty="0"/>
              <a:t>Add View</a:t>
            </a:r>
            <a:r>
              <a:rPr lang="en-CA" sz="2000" dirty="0"/>
              <a:t>’</a:t>
            </a:r>
          </a:p>
          <a:p>
            <a:r>
              <a:rPr lang="en-CA" sz="2000" dirty="0"/>
              <a:t>Leave the defaults as shown in the dialog box shown on the right and click ‘Add’</a:t>
            </a:r>
          </a:p>
          <a:p>
            <a:r>
              <a:rPr lang="en-CA" sz="2000" dirty="0"/>
              <a:t>In solution explorer, you will see a HelloWorld views folder and the </a:t>
            </a:r>
            <a:r>
              <a:rPr lang="en-CA" sz="2000" b="1" dirty="0">
                <a:solidFill>
                  <a:srgbClr val="FFC000"/>
                </a:solidFill>
              </a:rPr>
              <a:t>Index.cshtml</a:t>
            </a:r>
            <a:r>
              <a:rPr lang="en-CA" sz="2000" b="1" dirty="0"/>
              <a:t> </a:t>
            </a:r>
            <a:r>
              <a:rPr lang="en-CA" sz="2000" dirty="0"/>
              <a:t>view has been created</a:t>
            </a:r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2E4FB-DED1-8303-1CEC-088F04E0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509" y="1591023"/>
            <a:ext cx="3400900" cy="1305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0BEEEA-1238-3A37-9A54-B0305D863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003" y="5606371"/>
            <a:ext cx="1437594" cy="8385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D16E95F-AFDC-B7CB-1F0F-44FF324F977F}"/>
              </a:ext>
            </a:extLst>
          </p:cNvPr>
          <p:cNvSpPr/>
          <p:nvPr/>
        </p:nvSpPr>
        <p:spPr>
          <a:xfrm flipH="1">
            <a:off x="6407160" y="5884381"/>
            <a:ext cx="984239" cy="135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B8A997E-DEEA-22D7-5787-F51A8D048311}"/>
              </a:ext>
            </a:extLst>
          </p:cNvPr>
          <p:cNvCxnSpPr>
            <a:cxnSpLocks/>
          </p:cNvCxnSpPr>
          <p:nvPr/>
        </p:nvCxnSpPr>
        <p:spPr>
          <a:xfrm>
            <a:off x="3860341" y="5783574"/>
            <a:ext cx="2066168" cy="168516"/>
          </a:xfrm>
          <a:prstGeom prst="bentConnector3">
            <a:avLst>
              <a:gd name="adj1" fmla="val -4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5A1F28A-71F6-1C9F-DE28-6F8F5EC34ACC}"/>
              </a:ext>
            </a:extLst>
          </p:cNvPr>
          <p:cNvSpPr/>
          <p:nvPr/>
        </p:nvSpPr>
        <p:spPr>
          <a:xfrm flipH="1">
            <a:off x="6019799" y="1758371"/>
            <a:ext cx="890947" cy="168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66314D3-E67C-C66D-83DE-C766A17D0F0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99402" y="1842629"/>
            <a:ext cx="2359202" cy="595771"/>
          </a:xfrm>
          <a:prstGeom prst="bentConnector3">
            <a:avLst>
              <a:gd name="adj1" fmla="val 13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C18FEE-A994-23C9-EDD4-2784F1B7891F}"/>
              </a:ext>
            </a:extLst>
          </p:cNvPr>
          <p:cNvSpPr txBox="1"/>
          <p:nvPr/>
        </p:nvSpPr>
        <p:spPr>
          <a:xfrm>
            <a:off x="4038600" y="2463977"/>
            <a:ext cx="101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(right click)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BE7B469-5875-0EE0-1B72-9276D41AD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442" y="2204897"/>
            <a:ext cx="4858495" cy="335770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0A5EBD7-8999-C549-5A1A-9570AE354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676" y="3574315"/>
            <a:ext cx="3885044" cy="262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6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C8B35E-D9D7-6153-97FB-DACB976840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1690" y="1963737"/>
            <a:ext cx="6185406" cy="3912268"/>
          </a:xfr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812826-9629-F3CA-8655-4C4DA2C41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90" y="1963737"/>
            <a:ext cx="6820118" cy="3912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13356-3B02-A9F4-7152-B871CEF2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 anchor="b">
            <a:normAutofit/>
          </a:bodyPr>
          <a:lstStyle/>
          <a:p>
            <a:r>
              <a:rPr lang="en-US"/>
              <a:t>Launch the Web Server – and invoke HelloWorld Index Action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BF9AD1D-B28D-A972-A628-DDDE0B455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43800" y="3429000"/>
            <a:ext cx="3886200" cy="6889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Looking good – but where did these elements come from?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7915ED-8CBE-9A18-7271-78F1349B8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97" y="2767264"/>
            <a:ext cx="1600200" cy="3163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3726A4-DF7E-6BE5-45C4-6553A8CD0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16" y="1987871"/>
            <a:ext cx="6810092" cy="416539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74E636-5EDF-7236-9000-903EFEA8B943}"/>
              </a:ext>
            </a:extLst>
          </p:cNvPr>
          <p:cNvCxnSpPr>
            <a:cxnSpLocks/>
          </p:cNvCxnSpPr>
          <p:nvPr/>
        </p:nvCxnSpPr>
        <p:spPr>
          <a:xfrm flipH="1" flipV="1">
            <a:off x="1646378" y="2105227"/>
            <a:ext cx="5768111" cy="16404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E98C5E-302F-0F70-4EB2-286C859CB52B}"/>
              </a:ext>
            </a:extLst>
          </p:cNvPr>
          <p:cNvCxnSpPr>
            <a:cxnSpLocks/>
          </p:cNvCxnSpPr>
          <p:nvPr/>
        </p:nvCxnSpPr>
        <p:spPr>
          <a:xfrm flipH="1" flipV="1">
            <a:off x="1905000" y="2790155"/>
            <a:ext cx="5509489" cy="9555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D6EE64-56E9-9725-24E8-0C513D9DB0C1}"/>
              </a:ext>
            </a:extLst>
          </p:cNvPr>
          <p:cNvCxnSpPr>
            <a:cxnSpLocks/>
          </p:cNvCxnSpPr>
          <p:nvPr/>
        </p:nvCxnSpPr>
        <p:spPr>
          <a:xfrm flipH="1" flipV="1">
            <a:off x="1920070" y="3203357"/>
            <a:ext cx="5503414" cy="5664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07900C-49F6-2ADF-6AE6-C097B2508514}"/>
              </a:ext>
            </a:extLst>
          </p:cNvPr>
          <p:cNvCxnSpPr>
            <a:cxnSpLocks/>
          </p:cNvCxnSpPr>
          <p:nvPr/>
        </p:nvCxnSpPr>
        <p:spPr>
          <a:xfrm flipH="1">
            <a:off x="2895600" y="3769841"/>
            <a:ext cx="4518889" cy="202135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75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EEC4-B1AD-A9D8-A8DD-924C3F07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831"/>
            <a:ext cx="10515600" cy="5492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Reviewing the Project 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4D71F-DE9F-7A4E-AE27-7F5C12AE93F2}"/>
              </a:ext>
            </a:extLst>
          </p:cNvPr>
          <p:cNvSpPr txBox="1"/>
          <p:nvPr/>
        </p:nvSpPr>
        <p:spPr>
          <a:xfrm>
            <a:off x="838200" y="5589057"/>
            <a:ext cx="109279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of the content of our displayed page was from our View  Template – but most of it was not.</a:t>
            </a:r>
          </a:p>
          <a:p>
            <a:r>
              <a:rPr lang="en-US" dirty="0"/>
              <a:t>Common implementation that should be reused across the entire site is provided by a Project Layout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Views</a:t>
            </a:r>
            <a:r>
              <a:rPr lang="en-US" dirty="0"/>
              <a:t> ▶ </a:t>
            </a:r>
            <a:r>
              <a:rPr lang="en-US" b="1" dirty="0">
                <a:solidFill>
                  <a:srgbClr val="FF0000"/>
                </a:solidFill>
              </a:rPr>
              <a:t>Shared</a:t>
            </a:r>
            <a:r>
              <a:rPr lang="en-US" dirty="0"/>
              <a:t> ▶ </a:t>
            </a:r>
            <a:r>
              <a:rPr lang="en-US" b="1" dirty="0" err="1">
                <a:solidFill>
                  <a:srgbClr val="FF0000"/>
                </a:solidFill>
              </a:rPr>
              <a:t>Layout.cshtml</a:t>
            </a:r>
            <a:r>
              <a:rPr lang="en-US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2D78AC-F422-00C3-A01D-AF08E690D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27" y="758105"/>
            <a:ext cx="6988745" cy="48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3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EEC4-B1AD-A9D8-A8DD-924C3F07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are Layouts?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B73F6-B75B-2C36-2973-562BD9E52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CA" dirty="0"/>
              <a:t>To better understand the relation between Views </a:t>
            </a:r>
            <a:r>
              <a:rPr lang="en-US" dirty="0"/>
              <a:t>➡ </a:t>
            </a:r>
            <a:r>
              <a:rPr lang="en-CA" dirty="0"/>
              <a:t>Layouts, go back and review the implementation for the </a:t>
            </a:r>
            <a:r>
              <a:rPr lang="en-CA" b="1" dirty="0"/>
              <a:t>HelloWorldController</a:t>
            </a:r>
            <a:r>
              <a:rPr lang="en-CA" dirty="0"/>
              <a:t> Index view.</a:t>
            </a:r>
          </a:p>
          <a:p>
            <a:r>
              <a:rPr lang="en-CA" dirty="0"/>
              <a:t>What do you notice?  Isn’t there some html missing?</a:t>
            </a:r>
          </a:p>
          <a:p>
            <a:r>
              <a:rPr lang="en-CA" dirty="0"/>
              <a:t>What we see in the browser window when we run our application is like a </a:t>
            </a:r>
            <a:r>
              <a:rPr lang="en-CA" b="1" dirty="0"/>
              <a:t>jelly donut</a:t>
            </a:r>
            <a:r>
              <a:rPr lang="en-CA" dirty="0"/>
              <a:t>...</a:t>
            </a:r>
          </a:p>
          <a:p>
            <a:pPr lvl="1"/>
            <a:r>
              <a:rPr lang="en-CA" dirty="0"/>
              <a:t> The </a:t>
            </a:r>
            <a:r>
              <a:rPr lang="en-CA" b="1" dirty="0"/>
              <a:t>view</a:t>
            </a:r>
            <a:r>
              <a:rPr lang="en-CA" dirty="0"/>
              <a:t> is the </a:t>
            </a:r>
            <a:r>
              <a:rPr lang="en-CA" b="1" dirty="0"/>
              <a:t>filling</a:t>
            </a:r>
            <a:r>
              <a:rPr lang="en-CA" dirty="0"/>
              <a:t> inside the donut and the </a:t>
            </a:r>
            <a:r>
              <a:rPr lang="en-CA" b="1" dirty="0"/>
              <a:t>layout</a:t>
            </a:r>
            <a:r>
              <a:rPr lang="en-CA" dirty="0"/>
              <a:t> is like the </a:t>
            </a:r>
            <a:r>
              <a:rPr lang="en-CA" b="1" dirty="0"/>
              <a:t>donut</a:t>
            </a:r>
            <a:r>
              <a:rPr lang="en-CA" dirty="0"/>
              <a:t> that wraps the filling</a:t>
            </a:r>
          </a:p>
          <a:p>
            <a:pPr lvl="1"/>
            <a:r>
              <a:rPr lang="en-CA" dirty="0"/>
              <a:t>The html we thought was missing from the view is actually contained in the layout. </a:t>
            </a:r>
          </a:p>
          <a:p>
            <a:r>
              <a:rPr lang="en-CA" dirty="0"/>
              <a:t>Layout templates allow you to specify the HTML container layout of your site in one place and then apply it across multiple pages in your site.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09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EEC4-B1AD-A9D8-A8DD-924C3F07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728" y="381000"/>
            <a:ext cx="8991600" cy="625474"/>
          </a:xfrm>
        </p:spPr>
        <p:txBody>
          <a:bodyPr>
            <a:normAutofit/>
          </a:bodyPr>
          <a:lstStyle/>
          <a:p>
            <a:r>
              <a:rPr lang="en-US" dirty="0"/>
              <a:t>How Layouts interact with a chosen 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56F77E-6319-D5D7-8455-20BC255AC0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5974" y="1828800"/>
            <a:ext cx="10287000" cy="2261681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2DB55B-C1F4-A927-8F44-8324067826BD}"/>
              </a:ext>
            </a:extLst>
          </p:cNvPr>
          <p:cNvSpPr/>
          <p:nvPr/>
        </p:nvSpPr>
        <p:spPr>
          <a:xfrm flipH="1">
            <a:off x="1676399" y="2266950"/>
            <a:ext cx="1219200" cy="184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F764F-A5E2-6780-F99B-48C1264D39F1}"/>
              </a:ext>
            </a:extLst>
          </p:cNvPr>
          <p:cNvSpPr txBox="1"/>
          <p:nvPr/>
        </p:nvSpPr>
        <p:spPr>
          <a:xfrm>
            <a:off x="762000" y="4525070"/>
            <a:ext cx="110690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Upon closer inspection, you will see where the Layout injects the Razor HTML within the Layout</a:t>
            </a:r>
          </a:p>
          <a:p>
            <a:r>
              <a:rPr lang="en-US" dirty="0"/>
              <a:t>Content where </a:t>
            </a:r>
            <a:r>
              <a:rPr lang="en-US" b="1" dirty="0">
                <a:solidFill>
                  <a:srgbClr val="FF0000"/>
                </a:solidFill>
              </a:rPr>
              <a:t>@RenderBody()</a:t>
            </a:r>
            <a:r>
              <a:rPr lang="en-US" dirty="0"/>
              <a:t> is invoked.</a:t>
            </a:r>
          </a:p>
          <a:p>
            <a:endParaRPr lang="en-US" dirty="0"/>
          </a:p>
          <a:p>
            <a:r>
              <a:rPr lang="en-US" dirty="0"/>
              <a:t>The Layout file that is provided is an excellent example – but remember that this is simply a provided</a:t>
            </a:r>
          </a:p>
          <a:p>
            <a:r>
              <a:rPr lang="en-US" dirty="0"/>
              <a:t>Example.  Customization is both possible (and commonly required) as we develop our Website content.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1159BB-F4BC-A398-24C8-1BBE9A709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65" y="1826796"/>
            <a:ext cx="10312372" cy="2261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36AB06-288C-8BE3-0A58-A122B401A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57" y="1827668"/>
            <a:ext cx="10869542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1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EEC4-B1AD-A9D8-A8DD-924C3F07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B73F6-B75B-2C36-2973-562BD9E52E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MVC applications also use the ASP.Net routing system</a:t>
            </a:r>
          </a:p>
          <a:p>
            <a:r>
              <a:rPr lang="en-CA" dirty="0"/>
              <a:t>It manages how a URL Request is mapped to specific Controllers &amp; Actions</a:t>
            </a:r>
          </a:p>
          <a:p>
            <a:r>
              <a:rPr lang="en-CA" dirty="0"/>
              <a:t>When Visual Studio creates an MVC project, it adds some default routes to get us started</a:t>
            </a:r>
          </a:p>
          <a:p>
            <a:r>
              <a:rPr lang="en-CA" dirty="0"/>
              <a:t>/Home/Index/optional id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0549A-2C9E-B7E4-C901-E9F67807C7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The ASP.Net MVC convention is that </a:t>
            </a:r>
            <a:r>
              <a:rPr lang="en-CA" dirty="0">
                <a:solidFill>
                  <a:srgbClr val="FF0000"/>
                </a:solidFill>
              </a:rPr>
              <a:t>if we have a controller called </a:t>
            </a:r>
            <a:r>
              <a:rPr lang="en-CA" b="1" dirty="0">
                <a:solidFill>
                  <a:srgbClr val="FF0000"/>
                </a:solidFill>
              </a:rPr>
              <a:t>HomeController</a:t>
            </a:r>
            <a:r>
              <a:rPr lang="en-CA" dirty="0">
                <a:solidFill>
                  <a:srgbClr val="FF0000"/>
                </a:solidFill>
              </a:rPr>
              <a:t>, it will be the starting point for the application</a:t>
            </a:r>
          </a:p>
          <a:p>
            <a:r>
              <a:rPr lang="en-CA" dirty="0"/>
              <a:t>The default routes provided will follow this convention</a:t>
            </a:r>
          </a:p>
          <a:p>
            <a:r>
              <a:rPr lang="en-CA" dirty="0"/>
              <a:t>The existing routing configuration can be seen by reviewed within </a:t>
            </a:r>
            <a:r>
              <a:rPr lang="en-CA" sz="1800" b="1" dirty="0"/>
              <a:t>Program.cs</a:t>
            </a:r>
            <a:endParaRPr lang="en-US" b="1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A32276-CA6A-57AC-DBE3-4FB7452ECBC0}"/>
              </a:ext>
            </a:extLst>
          </p:cNvPr>
          <p:cNvCxnSpPr>
            <a:cxnSpLocks/>
          </p:cNvCxnSpPr>
          <p:nvPr/>
        </p:nvCxnSpPr>
        <p:spPr>
          <a:xfrm>
            <a:off x="6019800" y="1676400"/>
            <a:ext cx="0" cy="3657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89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92A2A-7341-5627-23E0-0E55B32A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1674"/>
          </a:xfrm>
        </p:spPr>
        <p:txBody>
          <a:bodyPr/>
          <a:lstStyle/>
          <a:p>
            <a:pPr algn="ctr"/>
            <a:r>
              <a:rPr lang="en-US" dirty="0"/>
              <a:t>“Mission Control – We’ve got a solution”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464E7-A68B-373B-C070-2909756D8E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Our Webserver was returning Error 404 when we ran it because the application was looking for a </a:t>
            </a:r>
            <a:r>
              <a:rPr lang="en-US" b="1" dirty="0"/>
              <a:t>HomeController</a:t>
            </a:r>
            <a:r>
              <a:rPr lang="en-US" dirty="0"/>
              <a:t>…and we didn’t have one</a:t>
            </a:r>
          </a:p>
          <a:p>
            <a:r>
              <a:rPr lang="en-US" dirty="0"/>
              <a:t>If we gave it the name of a valid controller afterwards, it was ok with that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4EEFB-6EE2-3B70-3C04-CF5201AD5A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If you want to have a view that loads by default (similar to a default / index page)… Either:</a:t>
            </a:r>
          </a:p>
          <a:p>
            <a:pPr lvl="1"/>
            <a:r>
              <a:rPr lang="en-US" dirty="0"/>
              <a:t>Ensure you have a HomeController with a valid Index action – and when a user arrives to the main url of your site, that is what will load</a:t>
            </a:r>
          </a:p>
          <a:p>
            <a:pPr lvl="1"/>
            <a:r>
              <a:rPr lang="en-US" dirty="0"/>
              <a:t>Modify the default routing to point to an existing Controller / Action combination</a:t>
            </a: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3CFE48-58DA-C948-D152-359872256251}"/>
              </a:ext>
            </a:extLst>
          </p:cNvPr>
          <p:cNvCxnSpPr/>
          <p:nvPr/>
        </p:nvCxnSpPr>
        <p:spPr>
          <a:xfrm>
            <a:off x="6019800" y="1676400"/>
            <a:ext cx="0" cy="3276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13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BAB3-591D-23FD-EEC2-33704DA6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HomeController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040DA-9968-C526-FC52-B51B55E46D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Right Click Controllers</a:t>
            </a:r>
          </a:p>
          <a:p>
            <a:pPr lvl="1"/>
            <a:r>
              <a:rPr lang="en-US" dirty="0"/>
              <a:t>Choose </a:t>
            </a:r>
            <a:r>
              <a:rPr lang="en-US" b="1" dirty="0">
                <a:solidFill>
                  <a:srgbClr val="FFC000"/>
                </a:solidFill>
              </a:rPr>
              <a:t>Add Controller</a:t>
            </a:r>
          </a:p>
          <a:p>
            <a:pPr lvl="1"/>
            <a:r>
              <a:rPr lang="en-US" dirty="0"/>
              <a:t>Select </a:t>
            </a:r>
            <a:r>
              <a:rPr lang="en-US" b="1" dirty="0">
                <a:solidFill>
                  <a:srgbClr val="FFC000"/>
                </a:solidFill>
              </a:rPr>
              <a:t>MVC Controller - Empty</a:t>
            </a:r>
          </a:p>
          <a:p>
            <a:pPr lvl="1"/>
            <a:r>
              <a:rPr lang="en-US" dirty="0"/>
              <a:t>Choose the name </a:t>
            </a:r>
            <a:r>
              <a:rPr lang="en-US" b="1" dirty="0">
                <a:solidFill>
                  <a:srgbClr val="FFC000"/>
                </a:solidFill>
              </a:rPr>
              <a:t>HomeController</a:t>
            </a:r>
            <a:r>
              <a:rPr lang="en-US" dirty="0"/>
              <a:t> (remember to leave the word Controller within the name.. just change the front part of the name)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(HINT) This is the default name for a new Controller, so you shouldn’t need to modify anything 😀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60D87-CF31-915B-1966-D1083675D3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Right click the Index Action in the controller and choose </a:t>
            </a:r>
            <a:r>
              <a:rPr lang="en-US" b="1" dirty="0">
                <a:solidFill>
                  <a:srgbClr val="FFC000"/>
                </a:solidFill>
              </a:rPr>
              <a:t>Add View</a:t>
            </a:r>
          </a:p>
          <a:p>
            <a:pPr lvl="1"/>
            <a:r>
              <a:rPr lang="en-US" dirty="0"/>
              <a:t>Choose a </a:t>
            </a:r>
            <a:r>
              <a:rPr lang="en-US" b="1" dirty="0">
                <a:solidFill>
                  <a:srgbClr val="FFC000"/>
                </a:solidFill>
              </a:rPr>
              <a:t>Razor View </a:t>
            </a:r>
            <a:r>
              <a:rPr lang="en-US" dirty="0"/>
              <a:t>(not the Empty option)</a:t>
            </a:r>
          </a:p>
          <a:p>
            <a:pPr lvl="1"/>
            <a:r>
              <a:rPr lang="en-US" dirty="0"/>
              <a:t>Leave the defaults to create the index view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3B6D55-62FF-E73E-04F7-A6B6774557D0}"/>
              </a:ext>
            </a:extLst>
          </p:cNvPr>
          <p:cNvCxnSpPr>
            <a:cxnSpLocks/>
          </p:cNvCxnSpPr>
          <p:nvPr/>
        </p:nvCxnSpPr>
        <p:spPr>
          <a:xfrm>
            <a:off x="6096000" y="1676400"/>
            <a:ext cx="0" cy="4500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70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832F-CC53-D90A-AF21-73682B86B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>
            <a:normAutofit/>
          </a:bodyPr>
          <a:lstStyle/>
          <a:p>
            <a:r>
              <a:rPr lang="en-CA" dirty="0"/>
              <a:t>Passing data from the Controller to a 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1D2A-757F-33B8-0A35-1F9A47382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7800"/>
            <a:ext cx="10363200" cy="4729163"/>
          </a:xfrm>
        </p:spPr>
        <p:txBody>
          <a:bodyPr>
            <a:normAutofit/>
          </a:bodyPr>
          <a:lstStyle/>
          <a:p>
            <a:r>
              <a:rPr lang="en-CA" dirty="0"/>
              <a:t>Controller classes are invoked in response to an incoming URL request. A controller class is where you write the code that handles the incoming parameters, perhaps does some processing, and ultimately decides what type of response to send back to the browser. </a:t>
            </a:r>
          </a:p>
          <a:p>
            <a:pPr lvl="1"/>
            <a:r>
              <a:rPr lang="en-CA" dirty="0"/>
              <a:t>View templates can then be used from a controller to generate and format an HTML response to the browser.</a:t>
            </a:r>
          </a:p>
          <a:p>
            <a:r>
              <a:rPr lang="en-CA" dirty="0"/>
              <a:t>Controllers are also responsible for providing whatever data or objects are required in order for a view template to render a response to the browser. </a:t>
            </a:r>
          </a:p>
          <a:p>
            <a:pPr lvl="1"/>
            <a:r>
              <a:rPr lang="en-CA" dirty="0">
                <a:solidFill>
                  <a:srgbClr val="FF0000"/>
                </a:solidFill>
              </a:rPr>
              <a:t>A view template should never perform true business logic or interact with a database directly</a:t>
            </a:r>
            <a:r>
              <a:rPr lang="en-CA" dirty="0"/>
              <a:t>. </a:t>
            </a:r>
          </a:p>
          <a:p>
            <a:pPr lvl="1"/>
            <a:r>
              <a:rPr lang="en-CA" dirty="0"/>
              <a:t>Instead, it should work only with the data that's provided to it by the controller. </a:t>
            </a:r>
          </a:p>
          <a:p>
            <a:pPr lvl="1"/>
            <a:r>
              <a:rPr lang="en-CA" dirty="0"/>
              <a:t>Maintaining this "separation of concerns" helps keep your code clean and more maintainable.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71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2677-E20E-5D9D-9BB7-D7EE1CFB5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all in the ViewBag…?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1B266-230B-E235-631D-95C2BA344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763000" cy="4351338"/>
          </a:xfrm>
        </p:spPr>
        <p:txBody>
          <a:bodyPr>
            <a:normAutofit/>
          </a:bodyPr>
          <a:lstStyle/>
          <a:p>
            <a:r>
              <a:rPr lang="en-CA" sz="2400" dirty="0"/>
              <a:t>As you saw a short time ago:</a:t>
            </a:r>
          </a:p>
          <a:p>
            <a:pPr lvl="1"/>
            <a:r>
              <a:rPr lang="en-CA" sz="2000" dirty="0"/>
              <a:t>Rather than have the controller render its response as a string, we changed our controller to use a view template instead. </a:t>
            </a:r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The view template then generated a dynamic response, and you can pass appropriate bits of data from the controller to the view in order to generate the response. </a:t>
            </a:r>
          </a:p>
          <a:p>
            <a:pPr lvl="2"/>
            <a:r>
              <a:rPr lang="en-CA" sz="1800" dirty="0"/>
              <a:t>You can do this by having the controller put the dynamic data you want to pass to the view template in a </a:t>
            </a:r>
            <a:r>
              <a:rPr lang="en-CA" sz="1800" b="1" dirty="0"/>
              <a:t>ViewBag</a:t>
            </a:r>
            <a:r>
              <a:rPr lang="en-CA" sz="1800" dirty="0"/>
              <a:t> object that the view template can then access.</a:t>
            </a:r>
            <a:endParaRPr lang="en-US" sz="1800" dirty="0"/>
          </a:p>
        </p:txBody>
      </p:sp>
      <p:pic>
        <p:nvPicPr>
          <p:cNvPr id="6" name="Content Placeholder 5" descr="A purple bag with a string&#10;&#10;Description automatically generated">
            <a:extLst>
              <a:ext uri="{FF2B5EF4-FFF2-40B4-BE49-F238E27FC236}">
                <a16:creationId xmlns:a16="http://schemas.microsoft.com/office/drawing/2014/main" id="{84EF13D9-FE04-EACD-2AEA-D18F814F11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3886200"/>
            <a:ext cx="1847850" cy="2466975"/>
          </a:xfrm>
        </p:spPr>
      </p:pic>
    </p:spTree>
    <p:extLst>
      <p:ext uri="{BB962C8B-B14F-4D97-AF65-F5344CB8AC3E}">
        <p14:creationId xmlns:p14="http://schemas.microsoft.com/office/powerpoint/2010/main" val="393013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C909EDF-C6A5-18BD-5D0D-E25AB1B9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/>
          <a:lstStyle/>
          <a:p>
            <a:r>
              <a:rPr lang="en-US" dirty="0"/>
              <a:t>ViewBag Implementation example (Controller)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3306A6C-C949-49BC-AF63-4378877F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CA" sz="1600" dirty="0"/>
              <a:t>public IActionResult Welcome(string name, int age=0)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	ViewBag.Message = "Hello " + name;</a:t>
            </a:r>
          </a:p>
          <a:p>
            <a:pPr marL="0" indent="0">
              <a:buNone/>
            </a:pPr>
            <a:r>
              <a:rPr lang="en-US" sz="1600" dirty="0"/>
              <a:t>	ViewBag.Age = age;</a:t>
            </a:r>
          </a:p>
          <a:p>
            <a:pPr marL="0" indent="0">
              <a:buNone/>
            </a:pPr>
            <a:r>
              <a:rPr lang="en-US" sz="1600" dirty="0"/>
              <a:t>	return View();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26F9D6-9CEF-B7FE-FCCE-0CD5FB264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74" y="1847683"/>
            <a:ext cx="8583223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6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C909EDF-C6A5-18BD-5D0D-E25AB1B9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/>
          <a:lstStyle/>
          <a:p>
            <a:r>
              <a:rPr lang="en-US" dirty="0"/>
              <a:t>ViewBag Implementation example (View)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3306A6C-C949-49BC-AF63-4378877F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&lt;div id="content"&gt;</a:t>
            </a:r>
          </a:p>
          <a:p>
            <a:pPr marL="0" indent="0">
              <a:buNone/>
            </a:pPr>
            <a:r>
              <a:rPr lang="en-US" sz="1800" dirty="0"/>
              <a:t>	&lt;h3&gt;@ViewBag.Message &lt;/h3&gt;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CA" sz="1800" dirty="0"/>
              <a:t>&lt;p&gt;So I hear that you are @ViewBag.Age years old?  Cool!&lt;/p&gt;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&lt;/div&gt;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7FB5C-CBF8-BB3E-0E08-6E0E28876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2078"/>
            <a:ext cx="10242053" cy="17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6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C909EDF-C6A5-18BD-5D0D-E25AB1B9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5474"/>
          </a:xfrm>
        </p:spPr>
        <p:txBody>
          <a:bodyPr/>
          <a:lstStyle/>
          <a:p>
            <a:r>
              <a:rPr lang="en-US" dirty="0"/>
              <a:t>ActionLink Code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0CAF6C-A620-0187-3FCB-A1418BA8A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803" y="1912998"/>
            <a:ext cx="9132394" cy="303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4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TY SKETCH 16X9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3.potx" id="{55B65C5C-2110-41C9-9432-67D739EC5CFC}" vid="{FDE12540-4521-4F30-863D-D54DD2EE1C3B}"/>
    </a:ext>
  </a:extLst>
</a:theme>
</file>

<file path=ppt/theme/theme2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{F8FEE585-395C-4F04-A4B1-14DE37FBF954}tf03031010_win32</Template>
  <TotalTime>15779</TotalTime>
  <Words>2862</Words>
  <Application>Microsoft Office PowerPoint</Application>
  <PresentationFormat>Widescreen</PresentationFormat>
  <Paragraphs>243</Paragraphs>
  <Slides>47</Slides>
  <Notes>3</Notes>
  <HiddenSlides>1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Century Schoolbook</vt:lpstr>
      <vt:lpstr>CITY SKETCH 16X9</vt:lpstr>
      <vt:lpstr>SERVER-SIDE WEB DEVELOPMENT</vt:lpstr>
      <vt:lpstr>An Overview of Developing in .NET</vt:lpstr>
      <vt:lpstr>An Overview of the History of .NET Frameworks</vt:lpstr>
      <vt:lpstr>MODERN .NET SUPPORTS MANY OUTCOMES</vt:lpstr>
      <vt:lpstr>INTRODUCTION TO ASP.NET</vt:lpstr>
      <vt:lpstr>ASP.NET – Project Types</vt:lpstr>
      <vt:lpstr>PowerPoint Presentation</vt:lpstr>
      <vt:lpstr>REVIEW: The MVC Design Pattern</vt:lpstr>
      <vt:lpstr>Advantages of MVC Web Apps</vt:lpstr>
      <vt:lpstr>An MVC Architecture In-Action</vt:lpstr>
      <vt:lpstr>So…What is MVC?</vt:lpstr>
      <vt:lpstr>So…What is MVC – PART 2</vt:lpstr>
      <vt:lpstr>Working with the MVC Design Pattern</vt:lpstr>
      <vt:lpstr>Preparing for Development in ASP.NET Core</vt:lpstr>
      <vt:lpstr>VISUAL STUDIO – WORKLOADS (&amp; AVAILABLE PROJECTS)</vt:lpstr>
      <vt:lpstr>Getting Started</vt:lpstr>
      <vt:lpstr>CHOOSE YOUR PROJECT TYPE</vt:lpstr>
      <vt:lpstr>PROJECT CONFIGURATION</vt:lpstr>
      <vt:lpstr>ADDITIONAL PROJECT INFORMATION</vt:lpstr>
      <vt:lpstr>(CREATION WALKTHRU VIDEO)</vt:lpstr>
      <vt:lpstr>PROJECT STRUCTURE</vt:lpstr>
      <vt:lpstr>FIRST STEPS – LET’S GO BACK TO BASICS</vt:lpstr>
      <vt:lpstr>ADDING A NEW CONTROLLER</vt:lpstr>
      <vt:lpstr>CHOOSE CONTROLLER OPTIONS</vt:lpstr>
      <vt:lpstr>CREATING THE HelloWorldController</vt:lpstr>
      <vt:lpstr>MODIFY DEFAULT IMPLEMENTATION</vt:lpstr>
      <vt:lpstr>Running your ASP.NET Project</vt:lpstr>
      <vt:lpstr>Launching our Current Project</vt:lpstr>
      <vt:lpstr>The Result</vt:lpstr>
      <vt:lpstr>ASP.NET PROJECT CONFIGURATION</vt:lpstr>
      <vt:lpstr>Reviewing the Results</vt:lpstr>
      <vt:lpstr>Using Parameters in Controller Actions</vt:lpstr>
      <vt:lpstr>NOTE</vt:lpstr>
      <vt:lpstr>Views with Razor</vt:lpstr>
      <vt:lpstr>Adding a View Template</vt:lpstr>
      <vt:lpstr>Launch the Web Server – and invoke HelloWorld Index Action</vt:lpstr>
      <vt:lpstr>Reviewing the Project Layout</vt:lpstr>
      <vt:lpstr>What are Layouts?</vt:lpstr>
      <vt:lpstr>How Layouts interact with a chosen View</vt:lpstr>
      <vt:lpstr>Introduction to Routing</vt:lpstr>
      <vt:lpstr>“Mission Control – We’ve got a solution”</vt:lpstr>
      <vt:lpstr>Add the HomeController</vt:lpstr>
      <vt:lpstr>Passing data from the Controller to a View</vt:lpstr>
      <vt:lpstr>It’s all in the ViewBag…?</vt:lpstr>
      <vt:lpstr>ViewBag Implementation example (Controller)</vt:lpstr>
      <vt:lpstr>ViewBag Implementation example (View)</vt:lpstr>
      <vt:lpstr>ActionLink Code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SERVER-SIDE WEB DEVELOPMENT</dc:title>
  <dc:creator>Murray, Judson (NBCC)</dc:creator>
  <cp:lastModifiedBy>Murray, Judson (NBCC)</cp:lastModifiedBy>
  <cp:revision>32</cp:revision>
  <dcterms:created xsi:type="dcterms:W3CDTF">2023-08-31T17:21:07Z</dcterms:created>
  <dcterms:modified xsi:type="dcterms:W3CDTF">2026-09-09T11:38:33Z</dcterms:modified>
</cp:coreProperties>
</file>